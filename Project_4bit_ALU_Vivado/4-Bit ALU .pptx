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</p:sldIdLst>
  <p:sldSz cx="12192000" cy="6858000"/>
  <p:notesSz cx="6858000" cy="9144000"/>
  <p:embeddedFontLst>
    <p:embeddedFont>
      <p:font typeface="JetBrains Mono"/>
      <p:bold r:id="rId17"/>
    </p:embeddedFont>
    <p:embeddedFont>
      <p:font typeface="Plus Jakarta Sans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FDAA1-5FF0-4DC0-BEAC-7E25AD8EE3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34B45-5EFE-401A-9161-9E2AE13EC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1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34B45-5EFE-401A-9161-9E2AE13ECF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48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53500" y="542925"/>
            <a:ext cx="2628900" cy="3238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06730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506730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506730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506730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619125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103239"/>
            <a:ext cx="10601325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Plus Jakarta Sans"/>
              </a:rPr>
              <a:t>Resource-Shared 4-Bit ALU: Gate-Level Design, Verification &amp;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306960"/>
            <a:ext cx="8477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Comprehensive architecture specification, self-checking testbench verification, and FPGA physical synthesis on AMD Xilinx Artix-7.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619125"/>
            <a:ext cx="136415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P1 PROJECT • 4-BIT </a:t>
            </a:r>
            <a:r>
              <a:rPr lang="en-US" sz="1050" b="1" dirty="0">
                <a:solidFill>
                  <a:srgbClr val="38BDF8"/>
                </a:solidFill>
                <a:latin typeface="Plus Jakarta Sans"/>
              </a:rPr>
              <a:t>ALU</a:t>
            </a:r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4950" y="619125"/>
            <a:ext cx="2857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Vivado 202X • Artix-7 xc7a100t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2578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486400"/>
            <a:ext cx="2678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1F5F9"/>
                </a:solidFill>
                <a:latin typeface="Plus Jakarta Sans"/>
              </a:rPr>
              <a:t>Tran Quan Bao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743575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ID: SE190570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52578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5486400"/>
            <a:ext cx="22383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1F5F9"/>
                </a:solidFill>
                <a:latin typeface="Plus Jakarta Sans"/>
              </a:rPr>
              <a:t>Microelectronics &amp; IC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644" y="57912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Plus Jakarta Sans"/>
              </a:rPr>
              <a:t>FPT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52578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VERIFICATION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5486400"/>
            <a:ext cx="2678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Plus Jakarta Sans"/>
              </a:rPr>
              <a:t>100% Tests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5743575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0 Simulation 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52578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DEVICE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5486400"/>
            <a:ext cx="2678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59E0B"/>
                </a:solidFill>
                <a:latin typeface="Plus Jakarta Sans"/>
              </a:rPr>
              <a:t>60 LUTs • 18 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0675" y="5743575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Ultra-Compact Area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3353" y="2254316"/>
            <a:ext cx="5353050" cy="3249215"/>
          </a:xfrm>
          <a:prstGeom prst="roundRect">
            <a:avLst>
              <a:gd name="adj" fmla="val 46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1880592"/>
            <a:ext cx="5353050" cy="39921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34150" y="2718792"/>
            <a:ext cx="4743450" cy="1348382"/>
          </a:xfrm>
          <a:prstGeom prst="roundRect">
            <a:avLst>
              <a:gd name="adj" fmla="val 706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34150" y="4219575"/>
            <a:ext cx="4743450" cy="1348382"/>
          </a:xfrm>
          <a:prstGeom prst="roundRect">
            <a:avLst>
              <a:gd name="adj" fmla="val 706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56867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150" y="2185392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652117"/>
            <a:ext cx="1714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280642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A (1/3) • HARDWARE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Module Hierarchy &amp; 30-Pin I/O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90204"/>
            <a:ext cx="2297424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50" b="1" i="0" u="none" dirty="0">
                <a:solidFill>
                  <a:srgbClr val="0F172A"/>
                </a:solidFill>
                <a:latin typeface="Plus Jakarta Sans"/>
              </a:rPr>
              <a:t>6 Submodules (</a:t>
            </a:r>
            <a:r>
              <a:rPr lang="en-US" sz="1600" b="1" dirty="0">
                <a:solidFill>
                  <a:schemeClr val="accent1"/>
                </a:solidFill>
              </a:rPr>
              <a:t>alu_4bit.v</a:t>
            </a:r>
            <a:r>
              <a:rPr sz="1650" b="1" i="0" u="none" dirty="0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0267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ctrl: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Opcode instruction decoder unit.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63528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adder_sub_u: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4-bit adder/subtractor with carry chain.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36789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logic_u: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Bitwise AND, OR, XOR, NOT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10050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shifter_u: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Single-bit logical left/right shifts.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83310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muldiv_u: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4-cycle sequential Multiply/Divide FSM.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56571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flags_u: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Status flags logic for C, Z, V, and 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1350" y="2223492"/>
            <a:ext cx="443805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30-Pin External I/O Specification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2890242"/>
            <a:ext cx="5486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INPUT SIGNALS (15 PINS)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3147417"/>
            <a:ext cx="4495800" cy="71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clk, </a:t>
            </a:r>
            <a:r>
              <a:rPr sz="1350" b="0" i="0" u="none" dirty="0" err="1">
                <a:solidFill>
                  <a:srgbClr val="0F172A"/>
                </a:solidFill>
                <a:latin typeface="Plus Jakarta Sans"/>
              </a:rPr>
              <a:t>rst</a:t>
            </a:r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, start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• Clock, Reset, Start</a:t>
            </a:r>
            <a:r>
              <a:rPr dirty="0"/>
              <a:t>
</a:t>
            </a:r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opcode[3:0]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(4b) • Operation select</a:t>
            </a:r>
            <a:r>
              <a:rPr dirty="0"/>
              <a:t>
</a:t>
            </a:r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a[3:0], b[3:0]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(8b) • 4-bit data operands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0" y="4391025"/>
            <a:ext cx="5486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OUTPUT SIGNALS (15 PINS)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0" y="4648200"/>
            <a:ext cx="449580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result[7:0]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(8b) • Computed </a:t>
            </a:r>
            <a:r>
              <a:rPr sz="1350" b="0" i="0" u="none" dirty="0" err="1">
                <a:solidFill>
                  <a:srgbClr val="1E293B"/>
                </a:solidFill>
                <a:latin typeface="Plus Jakarta Sans"/>
              </a:rPr>
              <a:t>datapath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output</a:t>
            </a:r>
            <a:r>
              <a:rPr dirty="0"/>
              <a:t>
</a:t>
            </a:r>
            <a:r>
              <a:rPr lang="en-US" sz="1400" dirty="0"/>
              <a:t>carry, zero, overflow, negative (4b)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• Status flags</a:t>
            </a:r>
            <a:r>
              <a:rPr dirty="0"/>
              <a:t>
</a:t>
            </a:r>
            <a:r>
              <a:rPr lang="en-US" sz="1400" dirty="0"/>
              <a:t>busy, done, </a:t>
            </a:r>
            <a:r>
              <a:rPr lang="en-US" sz="1400" dirty="0" err="1"/>
              <a:t>div_by_zero</a:t>
            </a:r>
            <a:r>
              <a:rPr lang="en-US" sz="1400" dirty="0"/>
              <a:t> (3b)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• </a:t>
            </a:r>
            <a:r>
              <a:rPr lang="en-US" sz="1400" dirty="0"/>
              <a:t>Control &amp; Exception</a:t>
            </a:r>
            <a:endParaRPr sz="1350" b="0" i="0" u="none" dirty="0">
              <a:solidFill>
                <a:srgbClr val="1E293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621881"/>
            <a:ext cx="10972800" cy="2352675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78793"/>
            <a:ext cx="5372100" cy="1614487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778793"/>
            <a:ext cx="5372100" cy="1614487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050256"/>
            <a:ext cx="2190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050256"/>
            <a:ext cx="171450" cy="1905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2219"/>
              </p:ext>
            </p:extLst>
          </p:nvPr>
        </p:nvGraphicFramePr>
        <p:xfrm>
          <a:off x="838200" y="3850481"/>
          <a:ext cx="10515598" cy="1895475"/>
        </p:xfrm>
        <a:graphic>
          <a:graphicData uri="http://schemas.openxmlformats.org/drawingml/2006/table">
            <a:tbl>
              <a:tblPr/>
              <a:tblGrid>
                <a:gridCol w="204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0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8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Control Multiplexer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Adder Input Port</a:t>
                      </a:r>
                      <a:endParaRPr sz="1125" b="1" i="0" u="none" dirty="0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Mode 0: Combinational (</a:t>
                      </a:r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busy = 0</a:t>
                      </a:r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Mode 1: Sequential (</a:t>
                      </a:r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busy = 1</a:t>
                      </a:r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68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0284C7"/>
                          </a:solidFill>
                          <a:latin typeface="JetBrains Mono"/>
                        </a:rPr>
                        <a:t>mux_add_a</a:t>
                      </a:r>
                      <a:endParaRPr sz="1350" b="1" i="0" u="none" dirty="0">
                        <a:solidFill>
                          <a:srgbClr val="0284C7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Operand A (4-bit)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External input </a:t>
                      </a:r>
                      <a:r>
                        <a:rPr sz="13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a[3:0]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Accumulator register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md_add_a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[3:0]</a:t>
                      </a:r>
                      <a:endParaRPr sz="1400" b="0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68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0284C7"/>
                          </a:solidFill>
                          <a:latin typeface="JetBrains Mono"/>
                        </a:rPr>
                        <a:t>mux_add_b</a:t>
                      </a:r>
                      <a:endParaRPr sz="1350" b="1" i="0" u="none" dirty="0">
                        <a:solidFill>
                          <a:srgbClr val="0284C7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Operand B (4-bit)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External input </a:t>
                      </a:r>
                      <a:r>
                        <a:rPr sz="13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b[3:0]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Multiplicand / Divisor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md_add_b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[3:0]</a:t>
                      </a:r>
                      <a:endParaRPr sz="1400" b="0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71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0284C7"/>
                          </a:solidFill>
                          <a:latin typeface="JetBrains Mono"/>
                        </a:rPr>
                        <a:t>mux_add_sub</a:t>
                      </a:r>
                      <a:endParaRPr sz="1350" b="1" i="0" u="none" dirty="0">
                        <a:solidFill>
                          <a:srgbClr val="0284C7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Add/Sub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Decoded </a:t>
                      </a:r>
                      <a:r>
                        <a:rPr sz="13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sub</a:t>
                      </a:r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line (Op 0001)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Restoring trial subtract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md_add_sub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A (2/3) • HARDWARE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Resource-Shared Datapath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359818"/>
            <a:ext cx="49720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Zero dedicated adders for multiplication and division routines. A single 4-bit Ripple-Carry Adder handles all arithmetic tasks.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950" y="2359818"/>
            <a:ext cx="4972050" cy="785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The active </a:t>
            </a:r>
            <a:r>
              <a:rPr sz="1275" b="0" i="0" u="none">
                <a:solidFill>
                  <a:srgbClr val="0284C7"/>
                </a:solidFill>
                <a:latin typeface="Plus Jakarta Sans"/>
              </a:rPr>
              <a:t>busy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control line switches adder inputs dynamically between combinational and multi-cycle sequential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2026443"/>
            <a:ext cx="282535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Area Optimization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2026443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Dynamic Datapath MUX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5575"/>
            <a:ext cx="3505200" cy="23622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586037"/>
            <a:ext cx="3505200" cy="2581126"/>
          </a:xfrm>
          <a:prstGeom prst="roundRect">
            <a:avLst>
              <a:gd name="adj" fmla="val 5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04486"/>
            <a:ext cx="35052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62275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527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319087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12" y="3043237"/>
            <a:ext cx="1047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962" y="2933700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287" y="3271837"/>
            <a:ext cx="12382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A (3/3) • GATE-LEVEL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Boolean Equations &amp; Submodule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2995612"/>
            <a:ext cx="21002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1. Full Adder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401896"/>
            <a:ext cx="1931619" cy="2162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Sum: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sum_i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=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a_i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^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b_inv_i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^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c_i</a:t>
            </a:r>
            <a:endParaRPr sz="1125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3762375"/>
            <a:ext cx="3143250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Carry: 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c_(i+1) = 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 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b_inv_i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 | ((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^ 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b_inv_i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 &amp; 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sz="1125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00" y="4324677"/>
            <a:ext cx="3143250" cy="216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2's Comp: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b_inv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[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] = b[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] ^ sub, c0 =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2050" y="2886075"/>
            <a:ext cx="25503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2. 4-Cycle FSM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09937"/>
            <a:ext cx="3143250" cy="447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Multiply (Op </a:t>
            </a:r>
            <a:r>
              <a:rPr lang="en-US" sz="1275" b="1" i="0" u="none" dirty="0">
                <a:solidFill>
                  <a:srgbClr val="0F172A"/>
                </a:solidFill>
                <a:latin typeface="Plus Jakarta Sans"/>
              </a:rPr>
              <a:t>1000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):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4-cycle Shift-and-Add algorithm.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77567"/>
            <a:ext cx="3143250" cy="447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Divide (Op </a:t>
            </a:r>
            <a:r>
              <a:rPr lang="en-US" sz="1275" b="1" dirty="0">
                <a:solidFill>
                  <a:srgbClr val="0F172A"/>
                </a:solidFill>
                <a:latin typeface="Plus Jakarta Sans"/>
              </a:rPr>
              <a:t>1001)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4-cycle Restoring division scheme.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45198"/>
            <a:ext cx="3143250" cy="45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0F172A"/>
                </a:solidFill>
                <a:latin typeface="Plus Jakarta Sans"/>
              </a:rPr>
              <a:t>Exception: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Instant </a:t>
            </a:r>
            <a:r>
              <a:rPr sz="1125" b="0" i="0" u="none">
                <a:solidFill>
                  <a:srgbClr val="EF4444"/>
                </a:solidFill>
                <a:latin typeface="Plus Jakarta Sans"/>
              </a:rPr>
              <a:t>div_by_zero = 1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flag assertion.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850" y="3224212"/>
            <a:ext cx="238779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3. Status Flag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3648075"/>
            <a:ext cx="1888081" cy="2162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V (Overflow):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arith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&amp; (c3 ^ c4)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3990975"/>
            <a:ext cx="3498458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C (Carry):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arith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 c4) | 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is_shl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 a[3]) | 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is_shr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 a[0])</a:t>
            </a:r>
            <a:endParaRPr sz="1125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05800" y="4333875"/>
            <a:ext cx="1989199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Z (Zero):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~(|result)</a:t>
            </a:r>
            <a:r>
              <a:rPr sz="127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, 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N: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result[3]</a:t>
            </a:r>
            <a:endParaRPr sz="1125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38425"/>
            <a:ext cx="3505200" cy="2486025"/>
          </a:xfrm>
          <a:prstGeom prst="roundRect">
            <a:avLst>
              <a:gd name="adj" fmla="val 53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38425"/>
            <a:ext cx="3505200" cy="2486025"/>
          </a:xfrm>
          <a:prstGeom prst="roundRect">
            <a:avLst>
              <a:gd name="adj" fmla="val 53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38425"/>
            <a:ext cx="3505200" cy="2486025"/>
          </a:xfrm>
          <a:prstGeom prst="roundRect">
            <a:avLst>
              <a:gd name="adj" fmla="val 53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2417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241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92417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" y="3028950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775" y="3028950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0575" y="3028950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B (1/2) • VERIFICATION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649376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Automated Self-Checking Testbench (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alu_4bit_tb.v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457575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Clock &amp; Reset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10000"/>
            <a:ext cx="3143250" cy="838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100 MHz clock rate with 10 ns periods</a:t>
            </a:r>
            <a:r>
              <a:rPr lang="en-US" sz="1350" b="0" i="0" u="none" dirty="0">
                <a:solidFill>
                  <a:srgbClr val="475569"/>
                </a:solidFill>
                <a:latin typeface="Plus Jakarta Sans"/>
              </a:rPr>
              <a:t>. </a:t>
            </a:r>
            <a:r>
              <a:rPr lang="en-US" sz="1400" dirty="0"/>
              <a:t>Active-high asynchronous reset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clears all internal registers during the initial 20 ns window.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57575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Vector Test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10000"/>
            <a:ext cx="3143250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/>
              <a:t>Phase 1:</a:t>
            </a:r>
            <a:r>
              <a:rPr lang="en-US" sz="1400" dirty="0"/>
              <a:t> Verifies 8 combinational operations (</a:t>
            </a:r>
            <a:r>
              <a:rPr lang="en-US" sz="1400" b="1" dirty="0"/>
              <a:t>3,584 automated vectors</a:t>
            </a:r>
            <a:r>
              <a:rPr lang="en-US" sz="1400" dirty="0"/>
              <a:t>).</a:t>
            </a:r>
          </a:p>
          <a:p>
            <a:r>
              <a:rPr lang="en-US" sz="1400" b="1" dirty="0"/>
              <a:t>Phase 2:</a:t>
            </a:r>
            <a:r>
              <a:rPr lang="en-US" sz="1400" dirty="0"/>
              <a:t> Verifies 4-cycle sequential MUL/DIV and division-by-zero exceptions (</a:t>
            </a:r>
            <a:r>
              <a:rPr lang="en-US" sz="1400" b="1" dirty="0"/>
              <a:t>512 automated vectors</a:t>
            </a:r>
            <a:r>
              <a:rPr lang="en-US" sz="1400" dirty="0"/>
              <a:t>).</a:t>
            </a:r>
          </a:p>
          <a:p>
            <a:r>
              <a:rPr lang="en-US" sz="1400" b="1" dirty="0"/>
              <a:t>Total Coverage:</a:t>
            </a:r>
            <a:r>
              <a:rPr lang="en-US" sz="1400" dirty="0"/>
              <a:t> </a:t>
            </a:r>
            <a:r>
              <a:rPr lang="en-US" sz="1400" b="1" dirty="0"/>
              <a:t>4,096 comprehensive test cases</a:t>
            </a:r>
            <a:r>
              <a:rPr lang="en-US" sz="1400" dirty="0"/>
              <a:t> with zero errors.</a:t>
            </a:r>
            <a:endParaRPr sz="135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5800" y="3457575"/>
            <a:ext cx="388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Automated Error Counter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810000"/>
            <a:ext cx="31432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32-bit internal counter compares actual outputs with golden models. Simulation returns clean PASS only when zero errors occur.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38250"/>
            <a:ext cx="10972800" cy="520065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8200" y="5810250"/>
            <a:ext cx="10515600" cy="40005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B (2/2) • SIMULATION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Vivado XSim Tcl Console Log &amp; PASS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800" y="1466850"/>
            <a:ext cx="2381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JetBrains Mono"/>
              </a:rPr>
              <a:t>STATUS: 0 ERRORS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774031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38BDF8"/>
                </a:solidFill>
                <a:latin typeface="JetBrains Mono"/>
              </a:rPr>
              <a:t>// VIVADO TCL CONSOLE SIMULATION LOG — 4-BIT ALU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909762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64748B"/>
                </a:solidFill>
                <a:latin typeface="JetBrains Mono"/>
              </a:rPr>
              <a:t>--------------------------------------------------------------------------------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592645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64748B"/>
                </a:solidFill>
                <a:latin typeface="JetBrains Mono"/>
              </a:rPr>
              <a:t>--------------------------------------------------------------------------------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5924550"/>
            <a:ext cx="208230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0" i="0" u="none" dirty="0">
                <a:solidFill>
                  <a:srgbClr val="94A3B8"/>
                </a:solidFill>
                <a:latin typeface="Plus Jakarta Sans"/>
              </a:rPr>
              <a:t>Target FPGA Device</a:t>
            </a:r>
            <a:r>
              <a:rPr sz="1050" b="0" i="0" u="none" dirty="0">
                <a:solidFill>
                  <a:schemeClr val="bg1"/>
                </a:solidFill>
                <a:latin typeface="Plus Jakarta Sans"/>
              </a:rPr>
              <a:t>: </a:t>
            </a:r>
            <a:r>
              <a:rPr lang="en-US" sz="1050" dirty="0">
                <a:solidFill>
                  <a:schemeClr val="bg1"/>
                </a:solidFill>
              </a:rPr>
              <a:t>xc7a35tcpg236-1</a:t>
            </a:r>
            <a:endParaRPr sz="105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42103" y="5930953"/>
            <a:ext cx="184024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Full Verification Run Completed</a:t>
            </a:r>
            <a:endParaRPr sz="1050" b="1" i="0" u="none" dirty="0">
              <a:solidFill>
                <a:schemeClr val="bg1"/>
              </a:solidFill>
              <a:latin typeface="Plus Jakarta San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6CA0737-E206-B18E-744D-1ADDA74B0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6816"/>
            <a:ext cx="5520027" cy="35029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38250"/>
            <a:ext cx="10972800" cy="520065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613366"/>
              </p:ext>
            </p:extLst>
          </p:nvPr>
        </p:nvGraphicFramePr>
        <p:xfrm>
          <a:off x="800100" y="1802366"/>
          <a:ext cx="10591798" cy="389827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064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46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Time (ns)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Opcode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Operation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a,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Result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 Z V 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Waveform Verification Notes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0 - 20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JetBrains Mono"/>
                        </a:rPr>
                        <a:t>0000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RESET (</a:t>
                      </a:r>
                      <a:r>
                        <a:rPr sz="1400" b="1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rst</a:t>
                      </a:r>
                      <a:r>
                        <a:rPr sz="1400" b="1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=1)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0, 0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0 1 0 0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Registers cleared, Zero flag asserts high.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1E293B"/>
                          </a:solidFill>
                          <a:latin typeface="JetBrains Mono"/>
                        </a:rPr>
                        <a:t>20 - </a:t>
                      </a:r>
                      <a:r>
                        <a:rPr lang="en-US" sz="1400" b="0" i="0" u="none" dirty="0">
                          <a:solidFill>
                            <a:srgbClr val="1E293B"/>
                          </a:solidFill>
                          <a:latin typeface="JetBrains Mono"/>
                        </a:rPr>
                        <a:t>30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JetBrains Mono"/>
                        </a:rPr>
                        <a:t>0000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ADD (a + 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5, 3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0 0 1 1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Signed overflow (+5 + +3 = +8 -&gt; negative).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30 - 40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JetBrains Mono"/>
                        </a:rPr>
                        <a:t>000</a:t>
                      </a:r>
                      <a:r>
                        <a:rPr lang="en-US" sz="1400" b="0" i="0" u="non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JetBrains Mono"/>
                        </a:rPr>
                        <a:t>0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ADD (a + b)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15, 1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1 1 0 0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Unsigned wrap-around, Carry=1, Zero=1.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40 - 50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0001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SUB (a - b)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5, 3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02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1 0 0 0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Carry=1 indicates no borrow (positive result).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50 - 60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0001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SUB (a - b)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3, 5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0E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0 0 0 1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Negative result (3 - 5 = -2 in 2's comp), Carry=0 (borrow).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465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60 - 180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0010-0111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LOGIC &amp; SHIFT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Var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[Data]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x </a:t>
                      </a:r>
                      <a:r>
                        <a:rPr lang="en-US" sz="1400" dirty="0" err="1"/>
                        <a:t>x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Combinational AND, OR, XOR, NOT, SHL, SHR.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465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180 - 235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MUL (a * b)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13, 11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8F (143)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0 0 0 0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busy=1</a:t>
                      </a:r>
                      <a:r>
                        <a:rPr lang="en-US" sz="1400" dirty="0"/>
                        <a:t> for 4 clock cycles, latched at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done=1</a:t>
                      </a:r>
                      <a:r>
                        <a:rPr lang="en-US" sz="1400" dirty="0"/>
                        <a:t>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419076"/>
                  </a:ext>
                </a:extLst>
              </a:tr>
              <a:tr h="420465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245 - 385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1001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DIV &amp; DIV_0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13, 4</a:t>
                      </a:r>
                      <a:r>
                        <a:rPr lang="en-US" sz="1400" dirty="0"/>
                        <a:t> /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9, 0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13h</a:t>
                      </a:r>
                      <a:r>
                        <a:rPr lang="en-US" sz="1400" dirty="0"/>
                        <a:t> / Hold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0 0 0 0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Valid quotient=3, remainder=1;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div_by_zero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=1</a:t>
                      </a:r>
                      <a:r>
                        <a:rPr lang="en-US" sz="1400" dirty="0"/>
                        <a:t> on 9/0.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84413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0005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C • WAVEFORM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Simulation Truth Table &amp; Status Flag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7767"/>
            <a:ext cx="5806380" cy="3477815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1 (EVIDENCE F1) • PROJECT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Creation &amp; RTL Hierarchy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42567"/>
            <a:ext cx="68207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Vivado Project Flow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19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0267"/>
            <a:ext cx="5292030" cy="423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Initialized target project for AMD Artix-7</a:t>
            </a:r>
            <a:r>
              <a:rPr lang="en-US"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400" dirty="0"/>
              <a:t>(xc7a35tcpg236-1)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and linked all top/submodule Verilog source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153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0614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Project Manager tree resolved top-level entity</a:t>
            </a:r>
            <a:r>
              <a:rPr lang="en-US"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400" dirty="0"/>
              <a:t>and 7 nested submodules</a:t>
            </a:r>
          </a:p>
          <a:p>
            <a:r>
              <a:rPr lang="en-US" sz="1400" dirty="0"/>
              <a:t>with 0 errors/warnings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11885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30960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Valid port mapping across 30 I/O pins established for clean elaboration and synthesis.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BB02BA-7DA8-818C-170D-06B9D530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589" y="704850"/>
            <a:ext cx="4535607" cy="49107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7767"/>
            <a:ext cx="5806380" cy="3477815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82680" y="2858541"/>
            <a:ext cx="4899719" cy="2036266"/>
          </a:xfrm>
          <a:prstGeom prst="roundRect">
            <a:avLst>
              <a:gd name="adj" fmla="val 7484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2 (EVIDENCE F2) • RTL ELABORATION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Schematic Elaboration &amp; Vivado Linter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42567"/>
            <a:ext cx="68207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Elaboration &amp; Static Linting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19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0267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Extracted gate-level schematic netlist from RTL code and executed Vivado static lint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153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0614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Resolved top-level interconnects (12 Cells, 30 I/O Ports, 96 Nets) linking 7 functional submodules without errors.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11885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30960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Zero unintended latches inferred; clean combinational paths and sequential clock domains.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458CE3-2BDA-B539-2EB5-C3E9530A1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230" y="2137767"/>
            <a:ext cx="5458685" cy="3477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7767"/>
            <a:ext cx="5806380" cy="3477815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3 (EVIDENCE F3) • WAVEFORM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869289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/>
              <a:t>Waveform Simulation: Combinational Operations &amp; Flag Verification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442567"/>
            <a:ext cx="68207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Combinational Verification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19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0267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Ran behavioral simulation in Vivado XSim across arithmetic, bitwise, and shift opcodes (0 to 7).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153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0614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Zero-delay response across all outputs with arithmetic flags strictly matching golden equations.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1885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30960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Verified 2's complement subtraction and signed overflow detection without glitching.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EC90A6-3440-F556-C372-B6CBC938F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980" y="1890169"/>
            <a:ext cx="5248685" cy="37864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3004"/>
            <a:ext cx="5806380" cy="3487340"/>
          </a:xfrm>
          <a:prstGeom prst="roundRect">
            <a:avLst>
              <a:gd name="adj" fmla="val 43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289502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STEP 4 (EVIDENCE F4) • </a:t>
            </a:r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TCL CONSOLE VALIDATION</a:t>
            </a:r>
            <a:endParaRPr sz="1050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690105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dirty="0" err="1"/>
              <a:t>Vivado</a:t>
            </a:r>
            <a:r>
              <a:rPr lang="en-US" sz="2400" dirty="0"/>
              <a:t> </a:t>
            </a:r>
            <a:r>
              <a:rPr lang="en-US" sz="2400" dirty="0" err="1"/>
              <a:t>Tcl</a:t>
            </a:r>
            <a:r>
              <a:rPr lang="en-US" sz="2400" dirty="0"/>
              <a:t> Console &amp; Automated Testbench PASS Result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437804"/>
            <a:ext cx="333623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600" dirty="0"/>
              <a:t>Automated Verification &amp; Log Validation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86642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85504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Executed exhaustive self-checking testbench (alu_4bit_tb.v) in </a:t>
            </a:r>
            <a:r>
              <a:rPr lang="en-US" sz="1400" dirty="0" err="1"/>
              <a:t>Vivado</a:t>
            </a:r>
            <a:r>
              <a:rPr lang="en-US" sz="1400" dirty="0"/>
              <a:t> </a:t>
            </a:r>
            <a:r>
              <a:rPr lang="en-US" sz="1400" dirty="0" err="1"/>
              <a:t>XSim</a:t>
            </a:r>
            <a:r>
              <a:rPr lang="en-US" sz="1400" dirty="0"/>
              <a:t> covering single-cycle and sequential operations.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399" y="361295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27483"/>
            <a:ext cx="529203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Console printed verified sample outputs alongside personal watermark (TRAN QUAN BAO - SE190570) and logged "PASS: 3584 single-cycle checks + 512 MUL/DIV checks, 0 errors".</a:t>
            </a:r>
            <a:endParaRPr sz="14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16648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35723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Validates 100% functional test coverage across 4,096 automated verification vectors with zero arithmetic or state machine flaws.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010A6F7-257C-67AF-F5E4-1B942FE3B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27665"/>
            <a:ext cx="5353325" cy="34926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6BF08-A5B0-33D1-C515-1AACE392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01BD989-760F-2A30-539E-2DC55602D388}"/>
              </a:ext>
            </a:extLst>
          </p:cNvPr>
          <p:cNvSpPr/>
          <p:nvPr/>
        </p:nvSpPr>
        <p:spPr>
          <a:xfrm>
            <a:off x="609600" y="2133004"/>
            <a:ext cx="5806380" cy="3487340"/>
          </a:xfrm>
          <a:prstGeom prst="roundRect">
            <a:avLst>
              <a:gd name="adj" fmla="val 43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03549-1C39-0A85-3615-13E290484A65}"/>
              </a:ext>
            </a:extLst>
          </p:cNvPr>
          <p:cNvSpPr txBox="1"/>
          <p:nvPr/>
        </p:nvSpPr>
        <p:spPr>
          <a:xfrm>
            <a:off x="609600" y="457200"/>
            <a:ext cx="2353208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STEP </a:t>
            </a:r>
            <a:r>
              <a:rPr lang="en-US"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5</a:t>
            </a:r>
            <a:r>
              <a:rPr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(EVIDENCE F</a:t>
            </a:r>
            <a:r>
              <a:rPr lang="en-US"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5</a:t>
            </a:r>
            <a:r>
              <a:rPr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) • </a:t>
            </a:r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LOGIC SYNTHESIS</a:t>
            </a:r>
            <a:endParaRPr sz="1050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9FD2EA-4587-9A46-4488-072DA4DDF308}"/>
              </a:ext>
            </a:extLst>
          </p:cNvPr>
          <p:cNvSpPr txBox="1"/>
          <p:nvPr/>
        </p:nvSpPr>
        <p:spPr>
          <a:xfrm>
            <a:off x="609600" y="704850"/>
            <a:ext cx="690105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dirty="0" err="1"/>
              <a:t>Vivado</a:t>
            </a:r>
            <a:r>
              <a:rPr lang="en-US" sz="2400" dirty="0"/>
              <a:t> </a:t>
            </a:r>
            <a:r>
              <a:rPr lang="en-US" sz="2400" dirty="0" err="1"/>
              <a:t>Tcl</a:t>
            </a:r>
            <a:r>
              <a:rPr lang="en-US" sz="2400" dirty="0"/>
              <a:t> Console &amp; Automated Testbench PASS Result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DBFADB-D686-D1D3-30A4-898157675104}"/>
              </a:ext>
            </a:extLst>
          </p:cNvPr>
          <p:cNvSpPr txBox="1"/>
          <p:nvPr/>
        </p:nvSpPr>
        <p:spPr>
          <a:xfrm>
            <a:off x="914400" y="2437804"/>
            <a:ext cx="364580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600" dirty="0"/>
              <a:t>Logic Synthesis &amp; Technology Mapping Flow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519E97-6E2F-08ED-97B8-8007CC34024F}"/>
              </a:ext>
            </a:extLst>
          </p:cNvPr>
          <p:cNvSpPr txBox="1"/>
          <p:nvPr/>
        </p:nvSpPr>
        <p:spPr>
          <a:xfrm>
            <a:off x="914400" y="286642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7C2FB-6FDC-23CC-EC4A-FC87B7FDE2DA}"/>
              </a:ext>
            </a:extLst>
          </p:cNvPr>
          <p:cNvSpPr txBox="1"/>
          <p:nvPr/>
        </p:nvSpPr>
        <p:spPr>
          <a:xfrm>
            <a:off x="914400" y="3085504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Ran </a:t>
            </a:r>
            <a:r>
              <a:rPr lang="en-US" sz="1400" dirty="0" err="1"/>
              <a:t>Vivado</a:t>
            </a:r>
            <a:r>
              <a:rPr lang="en-US" sz="1400" dirty="0"/>
              <a:t> Logic Synthesis targeting AMD Artix-7 (xc7a35tcpg236-1) with </a:t>
            </a:r>
            <a:r>
              <a:rPr lang="en-US" sz="1400" dirty="0" err="1"/>
              <a:t>Vivado</a:t>
            </a:r>
            <a:r>
              <a:rPr lang="en-US" sz="1400" dirty="0"/>
              <a:t> Synthesis Defaults strategy.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93F06-E4E6-3542-611E-3132D0AAE448}"/>
              </a:ext>
            </a:extLst>
          </p:cNvPr>
          <p:cNvSpPr txBox="1"/>
          <p:nvPr/>
        </p:nvSpPr>
        <p:spPr>
          <a:xfrm>
            <a:off x="914399" y="361295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DC15EA-A3F7-1610-9970-5CBFB0C00B0F}"/>
              </a:ext>
            </a:extLst>
          </p:cNvPr>
          <p:cNvSpPr txBox="1"/>
          <p:nvPr/>
        </p:nvSpPr>
        <p:spPr>
          <a:xfrm>
            <a:off x="914400" y="3827483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Generated post-synthesis gate-level netlist consisting of 32 Cells, 30 I/O Ports, and 61 Nets with status "</a:t>
            </a:r>
            <a:r>
              <a:rPr lang="en-US" sz="1400" dirty="0" err="1"/>
              <a:t>synth_design</a:t>
            </a:r>
            <a:r>
              <a:rPr lang="en-US" sz="1400" dirty="0"/>
              <a:t> Complete!".</a:t>
            </a:r>
            <a:endParaRPr sz="14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B0EB67-98EE-B086-8359-C9521F749984}"/>
              </a:ext>
            </a:extLst>
          </p:cNvPr>
          <p:cNvSpPr txBox="1"/>
          <p:nvPr/>
        </p:nvSpPr>
        <p:spPr>
          <a:xfrm>
            <a:off x="914400" y="4616648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7C5EE2-7DBF-963F-E812-A5C8D94DF9E7}"/>
              </a:ext>
            </a:extLst>
          </p:cNvPr>
          <p:cNvSpPr txBox="1"/>
          <p:nvPr/>
        </p:nvSpPr>
        <p:spPr>
          <a:xfrm>
            <a:off x="914400" y="4835723"/>
            <a:ext cx="529203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RTL descriptions successfully mapped to physical Xilinx hardware primitives: IBUF/OBUF pin buffers, 6-input LUTs for </a:t>
            </a:r>
            <a:r>
              <a:rPr lang="en-US" sz="1400" dirty="0" err="1"/>
              <a:t>datapath</a:t>
            </a:r>
            <a:r>
              <a:rPr lang="en-US" sz="1400" dirty="0"/>
              <a:t> logic, and FDRE registers for sequential control.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3406B-F23B-FD18-A940-AD8857C44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430" y="2022276"/>
            <a:ext cx="5134585" cy="359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18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08844"/>
            <a:ext cx="6278909" cy="4335512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4794944"/>
            <a:ext cx="5669309" cy="944612"/>
          </a:xfrm>
          <a:prstGeom prst="roundRect">
            <a:avLst>
              <a:gd name="adj" fmla="val 1008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822078"/>
              </p:ext>
            </p:extLst>
          </p:nvPr>
        </p:nvGraphicFramePr>
        <p:xfrm>
          <a:off x="914400" y="2013644"/>
          <a:ext cx="5669309" cy="2546084"/>
        </p:xfrm>
        <a:graphic>
          <a:graphicData uri="http://schemas.openxmlformats.org/drawingml/2006/table">
            <a:tbl>
              <a:tblPr/>
              <a:tblGrid>
                <a:gridCol w="23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6521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64748B"/>
                          </a:solidFill>
                          <a:latin typeface="Plus Jakarta Sans"/>
                        </a:rPr>
                        <a:t>FPGA Resource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Used / Available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Utilization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52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Slice LUTs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60 / 20,800</a:t>
                      </a:r>
                      <a:endParaRPr sz="135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0.29%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52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Flip-Flops (FF)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18 / 41,600</a:t>
                      </a:r>
                      <a:endParaRPr sz="135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0.04%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52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Bonded IOBs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30 / 106</a:t>
                      </a:r>
                      <a:endParaRPr sz="135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28.30%</a:t>
                      </a:r>
                      <a:endParaRPr sz="1350" b="1" i="0" u="none" dirty="0">
                        <a:solidFill>
                          <a:srgbClr val="0284C7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294631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Plus Jakarta Sans"/>
              </a:rPr>
              <a:t>STEP </a:t>
            </a:r>
            <a:r>
              <a:rPr lang="en-US" sz="1050" b="1" i="0" u="none" dirty="0">
                <a:solidFill>
                  <a:srgbClr val="0284C7"/>
                </a:solidFill>
                <a:latin typeface="Plus Jakarta Sans"/>
              </a:rPr>
              <a:t>6</a:t>
            </a:r>
            <a:r>
              <a:rPr sz="1050" b="1" i="0" u="none" dirty="0">
                <a:solidFill>
                  <a:srgbClr val="0284C7"/>
                </a:solidFill>
                <a:latin typeface="Plus Jakarta Sans"/>
              </a:rPr>
              <a:t> (EVIDENCE F</a:t>
            </a:r>
            <a:r>
              <a:rPr lang="en-US" sz="1050" b="1" i="0" u="none" dirty="0">
                <a:solidFill>
                  <a:srgbClr val="0284C7"/>
                </a:solidFill>
                <a:latin typeface="Plus Jakarta Sans"/>
              </a:rPr>
              <a:t>6</a:t>
            </a:r>
            <a:r>
              <a:rPr sz="1050" b="1" i="0" u="none" dirty="0">
                <a:solidFill>
                  <a:srgbClr val="0284C7"/>
                </a:solidFill>
                <a:latin typeface="Plus Jakarta Sans"/>
              </a:rPr>
              <a:t>) • PHYSICAL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Hardware Synthesis &amp; Resource Utilization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947344"/>
            <a:ext cx="5459759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F172A"/>
                </a:solidFill>
                <a:latin typeface="Plus Jakarta Sans"/>
              </a:rPr>
              <a:t>Design Takeaway: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The resource-shared adder architecture dramatically cuts LUT consumption compared to designs implementing dedicated arithmetic sub-blocks.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D75751-E4E7-5E40-9925-71E146123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553" y="1708844"/>
            <a:ext cx="4747456" cy="40307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14826"/>
            <a:ext cx="109728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29775" y="700087"/>
            <a:ext cx="1952625" cy="3238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418457"/>
            <a:ext cx="2571750" cy="1868537"/>
          </a:xfrm>
          <a:prstGeom prst="roundRect">
            <a:avLst>
              <a:gd name="adj" fmla="val 713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9950" y="2418457"/>
            <a:ext cx="2571750" cy="1868537"/>
          </a:xfrm>
          <a:prstGeom prst="roundRect">
            <a:avLst>
              <a:gd name="adj" fmla="val 713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2418457"/>
            <a:ext cx="2571750" cy="1868537"/>
          </a:xfrm>
          <a:prstGeom prst="roundRect">
            <a:avLst>
              <a:gd name="adj" fmla="val 713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10650" y="2418457"/>
            <a:ext cx="2571750" cy="1868537"/>
          </a:xfrm>
          <a:prstGeom prst="roundRect">
            <a:avLst>
              <a:gd name="adj" fmla="val 713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5514826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7057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0" y="2647057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647057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0" y="2647057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5752951"/>
            <a:ext cx="1143000" cy="571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2742307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0" y="2742307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742307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025" y="2742307"/>
            <a:ext cx="1333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33400"/>
            <a:ext cx="248786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STEP </a:t>
            </a:r>
            <a:r>
              <a:rPr lang="en-US" sz="1050" b="1" i="0" u="none" dirty="0">
                <a:solidFill>
                  <a:srgbClr val="38BDF8"/>
                </a:solidFill>
                <a:latin typeface="Plus Jakarta Sans"/>
              </a:rPr>
              <a:t>7</a:t>
            </a:r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 (EVIDENCE F</a:t>
            </a:r>
            <a:r>
              <a:rPr lang="en-US" sz="1050" b="1" i="0" u="none" dirty="0">
                <a:solidFill>
                  <a:srgbClr val="38BDF8"/>
                </a:solidFill>
                <a:latin typeface="Plus Jakarta Sans"/>
              </a:rPr>
              <a:t>7</a:t>
            </a:r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) &amp; PROJECT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62000"/>
            <a:ext cx="5911170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Project Conclusions &amp; Key Achievements</a:t>
            </a:r>
            <a:endParaRPr sz="270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01225" y="776287"/>
            <a:ext cx="201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8FAFC"/>
                </a:solidFill>
                <a:latin typeface="Plus Jakarta Sans"/>
              </a:rPr>
              <a:t>SUBMISSION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12330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Gate-Level RTL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418582"/>
            <a:ext cx="2209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Integrated all 7 hierarchical submodules from ground-up structural logic.</a:t>
            </a:r>
            <a:endParaRPr sz="120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38550" y="312330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Resource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8550" y="3418582"/>
            <a:ext cx="22098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Adder-sharing datapath reduced silicon utilization to an ultra-compact 60 LUTs.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900" y="312330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Automated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900" y="3418582"/>
            <a:ext cx="22098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Self-checking testbench confirmed 100% test coverage with zero errors.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0" y="312330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Vivado Flow Executed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0" y="3418582"/>
            <a:ext cx="2209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Completed </a:t>
            </a:r>
            <a:r>
              <a:rPr lang="en-US" sz="1200" dirty="0" err="1">
                <a:solidFill>
                  <a:schemeClr val="bg1"/>
                </a:solidFill>
              </a:rPr>
              <a:t>Vivado</a:t>
            </a:r>
            <a:r>
              <a:rPr lang="en-US" sz="1200" dirty="0">
                <a:solidFill>
                  <a:schemeClr val="bg1"/>
                </a:solidFill>
              </a:rPr>
              <a:t> design flow through logic synthesis and resource mapping on Artix-7.</a:t>
            </a:r>
            <a:endParaRPr sz="120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9600" y="5776763"/>
            <a:ext cx="531316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Thank You for Your Time &amp;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1649</Words>
  <Application>Microsoft Office PowerPoint</Application>
  <PresentationFormat>Widescreen</PresentationFormat>
  <Paragraphs>223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Aptos</vt:lpstr>
      <vt:lpstr>Plus Jakarta Sans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Quân Bảo</cp:lastModifiedBy>
  <cp:revision>2</cp:revision>
  <dcterms:created xsi:type="dcterms:W3CDTF">2013-01-27T09:14:16Z</dcterms:created>
  <dcterms:modified xsi:type="dcterms:W3CDTF">2026-10-04T06:08:01Z</dcterms:modified>
  <cp:category/>
</cp:coreProperties>
</file>