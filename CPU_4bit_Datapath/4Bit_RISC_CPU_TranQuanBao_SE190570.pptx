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5" d="100"/>
          <a:sy n="145" d="100"/>
        </p:scale>
        <p:origin x="68"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97087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My name is Tran Quan Bao, roll number SE190570. Today I will present my course project: a 4-bit RISC CPU datapath with a 3-stage pipeline, designed in Verilog and implemented in Vivado 2026.1 for an Artix-7 FPGA. (~20 sec)</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designs, implements and verifies a 4-bit RISC CPU. The datapath is 4 bits wide. Instructions are fixed 12-bit. There are four general-purpose registers. Memory is Harvard style: a 16x12 ROM and a 16x4 RAM. Once the pipeline is full, we get one instruction per clock cycle. Branch hazards are solved by flushing two bubbles. And all 88 automated checks passed. (~50 sec)</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CPU has three pipeline stages. In Instruction Fetch, the program counter addresses the instruction memory. The IF/ID register holds the instruction and inserts a NOP bubble on flush or reset. In Instruction Decode, the decoder creates nine control signals. The ID/EX register carries those signals together with Rd, Rs, the immediate and the PC. In Execute, we read registers, run the ALU, update flags, access data memory, write back, and resolve branches. A branch taken in EX sends the target to the PC and flushes the two younger instructions. (~60 sec)</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instruction is 12 bits: a 4-bit opcode, a 2-bit destination register, a 2-bit source register, and a 4-bit immediate or address. There are 12 real instructions: arithmetic ADD and SUB, which update Zero and Carry; logic AND, OR, XOR, NOT, which update Zero only; LDI and MOV for data movement; LOAD and STORE for memory; and JMP and JZ for control flow. Opcodes 1100 to 1111 are reserved NOPs. (~60 sec)</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hardwired decoder maps each opcode to nine control signals with safe defaults. For example, ADD and SUB write the register file and update both Zero and Carry. LDI, LOAD and STORE use the immediate as ALU operand B through alu_src equals 1. LOAD selects RAM data for write-back. STORE enables the memory write. JMP and JZ only raise is_jmp or is_jz and are resolved in the branch unit at EX. (~45 sec)</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real trace. LDI loads 5 into R1 and 3 into R2. ADD gives 8 with no carry. STORE writes 8 to memory address 0. SUB gives 2, and carry is 1 because there is no borrow. LOAD reads memory back into R0. Then SUB R2, R2 gives zero and sets Z to 1, so the JZ to address 9 is taken and flushes two instructions. (~50 sec)</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a two-tier verification strategy. At module level, there are 44 checks across three testbenches: the ALU with 11 checks, the register file with 11, and the control unit with 22, covering all 16 opcodes and 6 branch scenarios. At system level, tb_cpu has 44 checks across five tests: a demo program, arithmetic with memory, logic operations, jumps with flush verification, and reset with an X/Z check on all buses. (~60 sec)</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testbenches pass in Vivado XSim: ALU 11 of 11 at 110 nanoseconds, register file 11 of 11 at 67 nanoseconds, control unit 22 of 22 at 22 nanoseconds, and the full CPU 44 of 44 at 666 nanoseconds. That is 88 out of 88, a 100 percent pass rate. The waveforms show the PC incrementing, the flush pulse on branches, and register write-backs aligned to the clock. (~50 sec)</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 shows the Sources window. The top module is cpu_top, which instantiates the program counter, instruction memory, instruction register, control unit, ID/EX pipeline register, register file, ALU, flags, data memory and three mux2 instances. Simulation Sources contain four testbenches and four memory files. (~30 sec)</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F2 shows behavioral simulation waveforms for each testbench. The CPU waveform shows the PC incrementing, the flush pulse when a branch is detected, and register write-backs synchronized to the clock edges across the three pipeline stages. (~35 sec)</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F3 shows the Tcl console logs. Every check prints PASS, and each testbench ends with a PASSED summary: ALU 11 of 11, register file 11 of 11, control unit 22 of 22, and CPU 44 of 44. In total 88 of 88 checks passed. The CPU logs also show cycle-by-cycle pipeline traces for tests 1 to 5. (~40 sec)</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F4 is the elaborated schematic: 13 cells, 28 I/O ports and 116 nets. It shows clean inter-stage boundary registers isolating IF, ID and EX, and no unintended latches. (~25 sec)</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F5 is the post-synthesis schematic. RTL primitives are mapped to FPGA fabric cells: LUT6, MUXF7, FDRE flip-flops and IBUF/OBUF pads, balancing area and logic propagation delay. It has 144 cells and 319 nets. (~25 sec)</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F6 is the utilization report on the Artix-7: 41 LUTs, 50 flip-flops and 28 I/O pins. That is 0.20 percent of LUTs, 0.12 percent of flip-flops and 26 percent of I/O. The footprint is small thanks to the shared adder-subtractor and simple combinational decoder. (~30 sec)</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followed six steps. One: create the RTL project and select the Artix-7 device. Two: separate design sources, which are 11 synthesizable modules, from simulation sources, which are 4 testbenches and 4 memory files. Three: run behavioral simulation to catch logic, decode and hazard bugs early. Four: inspect the elaborated design to confirm bus connectivity and no latches. Five: run synthesis to map logic to LUTs and flip-flops. Six: review utilization and timing reports. (~60 sec)</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the project successfully delivered a verified 4-bit pipelined RISC CPU with hazard handling, achieving 88 out of 88 passing checks and a very small FPGA footprint. Thank you for listening, and I am happy to answer questions. (~25 sec)</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L">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13A89E"/>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B2545"/>
          </a:solidFill>
          <a:ln/>
        </p:spPr>
      </p:sp>
      <p:sp>
        <p:nvSpPr>
          <p:cNvPr id="3" name="Shape 1"/>
          <p:cNvSpPr/>
          <p:nvPr/>
        </p:nvSpPr>
        <p:spPr>
          <a:xfrm>
            <a:off x="0" y="868680"/>
            <a:ext cx="9144000" cy="45720"/>
          </a:xfrm>
          <a:prstGeom prst="rect">
            <a:avLst/>
          </a:prstGeom>
          <a:solidFill>
            <a:srgbClr val="13A89E"/>
          </a:solidFill>
          <a:ln/>
        </p:spPr>
      </p:sp>
      <p:sp>
        <p:nvSpPr>
          <p:cNvPr id="4" name="Text 2"/>
          <p:cNvSpPr>
            <a:spLocks noGrp="1"/>
          </p:cNvSpPr>
          <p:nvPr>
            <p:ph type="title" idx="102" hasCustomPrompt="1"/>
          </p:nvPr>
        </p:nvSpPr>
        <p:spPr>
          <a:xfrm>
            <a:off x="457200" y="109728"/>
            <a:ext cx="8229600" cy="640080"/>
          </a:xfrm>
          <a:prstGeom prst="rect">
            <a:avLst/>
          </a:prstGeom>
          <a:noFill/>
          <a:ln/>
        </p:spPr>
        <p:txBody>
          <a:bodyPr wrap="square" rtlCol="0"/>
          <a:lstStyle>
            <a:lvl1pPr marL="0" indent="0">
              <a:buNone/>
              <a:defRPr lang="en-US" sz="2400" b="1" dirty="0">
                <a:solidFill>
                  <a:srgbClr val="FFFFFF"/>
                </a:solidFill>
                <a:latin typeface="Calibri" pitchFamily="34" charset="0"/>
                <a:ea typeface="Calibri" pitchFamily="34" charset="-122"/>
                <a:cs typeface="Calibri" pitchFamily="34" charset="-120"/>
              </a:defRPr>
            </a:lvl1pPr>
          </a:lstStyle>
          <a:p>
            <a:pPr marL="0" indent="0">
              <a:buNone/>
            </a:pPr>
            <a:endParaRPr lang="en-US" sz="24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D99AE"/>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D99AE"/>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188720"/>
            <a:ext cx="7863840" cy="731520"/>
          </a:xfrm>
          <a:prstGeom prst="rect">
            <a:avLst/>
          </a:prstGeom>
          <a:noFill/>
          <a:ln/>
        </p:spPr>
        <p:txBody>
          <a:bodyPr wrap="square" lIns="0" tIns="0" rIns="0" bIns="0" rtlCol="0" anchor="ctr"/>
          <a:lstStyle/>
          <a:p>
            <a:pPr marL="0" indent="0">
              <a:buNone/>
            </a:pPr>
            <a:r>
              <a:rPr lang="en-US" sz="3800" b="1" dirty="0">
                <a:solidFill>
                  <a:srgbClr val="FFFFFF"/>
                </a:solidFill>
              </a:rPr>
              <a:t>4-Bit RISC CPU Datapath</a:t>
            </a:r>
            <a:endParaRPr lang="en-US" sz="3800" dirty="0"/>
          </a:p>
        </p:txBody>
      </p:sp>
      <p:sp>
        <p:nvSpPr>
          <p:cNvPr id="3" name="Text 1"/>
          <p:cNvSpPr txBox="1"/>
          <p:nvPr/>
        </p:nvSpPr>
        <p:spPr>
          <a:xfrm>
            <a:off x="640080" y="1920240"/>
            <a:ext cx="7863840" cy="548640"/>
          </a:xfrm>
          <a:prstGeom prst="rect">
            <a:avLst/>
          </a:prstGeom>
          <a:noFill/>
          <a:ln/>
        </p:spPr>
        <p:txBody>
          <a:bodyPr wrap="square" lIns="0" tIns="0" rIns="0" bIns="0" rtlCol="0" anchor="ctr"/>
          <a:lstStyle/>
          <a:p>
            <a:pPr marL="0" indent="0">
              <a:buNone/>
            </a:pPr>
            <a:r>
              <a:rPr lang="en-US" sz="2400" dirty="0">
                <a:solidFill>
                  <a:srgbClr val="13A89E"/>
                </a:solidFill>
              </a:rPr>
              <a:t>with 3-Stage Pipeline (IF – ID – EX)</a:t>
            </a:r>
            <a:endParaRPr lang="en-US" sz="2400" dirty="0"/>
          </a:p>
        </p:txBody>
      </p:sp>
      <p:sp>
        <p:nvSpPr>
          <p:cNvPr id="4" name="Text 2"/>
          <p:cNvSpPr txBox="1"/>
          <p:nvPr/>
        </p:nvSpPr>
        <p:spPr>
          <a:xfrm>
            <a:off x="640080" y="2743200"/>
            <a:ext cx="7863840" cy="365760"/>
          </a:xfrm>
          <a:prstGeom prst="rect">
            <a:avLst/>
          </a:prstGeom>
          <a:noFill/>
          <a:ln/>
        </p:spPr>
        <p:txBody>
          <a:bodyPr wrap="square" lIns="0" tIns="0" rIns="0" bIns="0" rtlCol="0" anchor="ctr"/>
          <a:lstStyle/>
          <a:p>
            <a:pPr marL="0" indent="0">
              <a:buNone/>
            </a:pPr>
            <a:r>
              <a:rPr lang="en-US" sz="1300" dirty="0">
                <a:solidFill>
                  <a:srgbClr val="C9D3E0"/>
                </a:solidFill>
              </a:rPr>
              <a:t>Digital Design Course Project  |  Verilog HDL  |  AMD Xilinx Vivado 2026.1  |  Artix-7 (xc7a35tcpg236-1)</a:t>
            </a:r>
            <a:endParaRPr lang="en-US" sz="1300" dirty="0"/>
          </a:p>
        </p:txBody>
      </p:sp>
      <p:sp>
        <p:nvSpPr>
          <p:cNvPr id="5" name="Text 3"/>
          <p:cNvSpPr txBox="1"/>
          <p:nvPr/>
        </p:nvSpPr>
        <p:spPr>
          <a:xfrm>
            <a:off x="640080" y="3931920"/>
            <a:ext cx="7863840" cy="365760"/>
          </a:xfrm>
          <a:prstGeom prst="rect">
            <a:avLst/>
          </a:prstGeom>
          <a:noFill/>
          <a:ln/>
        </p:spPr>
        <p:txBody>
          <a:bodyPr wrap="square" lIns="0" tIns="0" rIns="0" bIns="0" rtlCol="0" anchor="ctr"/>
          <a:lstStyle/>
          <a:p>
            <a:pPr marL="0" indent="0">
              <a:buNone/>
            </a:pPr>
            <a:r>
              <a:rPr lang="en-US" sz="1600" b="1" dirty="0">
                <a:solidFill>
                  <a:srgbClr val="FFFFFF"/>
                </a:solidFill>
              </a:rPr>
              <a:t>Presented by: Tran Quan Bao  –  SE190570</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457200" y="109728"/>
            <a:ext cx="8229600" cy="64008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Project Overview</a:t>
            </a:r>
            <a:endParaRPr lang="en-US" sz="2400" dirty="0"/>
          </a:p>
        </p:txBody>
      </p:sp>
      <p:sp>
        <p:nvSpPr>
          <p:cNvPr id="4" name="card1"/>
          <p:cNvSpPr/>
          <p:nvPr/>
        </p:nvSpPr>
        <p:spPr>
          <a:xfrm>
            <a:off x="457200" y="1143000"/>
            <a:ext cx="2651760" cy="1463040"/>
          </a:xfrm>
          <a:prstGeom prst="rect">
            <a:avLst/>
          </a:prstGeom>
          <a:solidFill>
            <a:srgbClr val="FFFFFF"/>
          </a:solidFill>
          <a:ln w="9525">
            <a:solidFill>
              <a:srgbClr val="DDE3EA"/>
            </a:solidFill>
            <a:prstDash val="solid"/>
          </a:ln>
        </p:spPr>
      </p:sp>
      <p:sp>
        <p:nvSpPr>
          <p:cNvPr id="5" name="Shape 2"/>
          <p:cNvSpPr/>
          <p:nvPr/>
        </p:nvSpPr>
        <p:spPr>
          <a:xfrm>
            <a:off x="457200" y="1143000"/>
            <a:ext cx="64008" cy="1463040"/>
          </a:xfrm>
          <a:prstGeom prst="rect">
            <a:avLst/>
          </a:prstGeom>
          <a:solidFill>
            <a:srgbClr val="13A89E"/>
          </a:solidFill>
          <a:ln w="12700">
            <a:solidFill>
              <a:srgbClr val="13A89E"/>
            </a:solidFill>
            <a:prstDash val="solid"/>
          </a:ln>
        </p:spPr>
      </p:sp>
      <p:sp>
        <p:nvSpPr>
          <p:cNvPr id="6" name="Text 3"/>
          <p:cNvSpPr txBox="1"/>
          <p:nvPr/>
        </p:nvSpPr>
        <p:spPr>
          <a:xfrm>
            <a:off x="640080" y="1216152"/>
            <a:ext cx="2377440" cy="320040"/>
          </a:xfrm>
          <a:prstGeom prst="rect">
            <a:avLst/>
          </a:prstGeom>
          <a:noFill/>
          <a:ln/>
        </p:spPr>
        <p:txBody>
          <a:bodyPr wrap="square" lIns="0" tIns="0" rIns="0" bIns="0" rtlCol="0" anchor="ctr"/>
          <a:lstStyle/>
          <a:p>
            <a:pPr marL="0" indent="0">
              <a:buNone/>
            </a:pPr>
            <a:r>
              <a:rPr lang="en-US" sz="1300" b="1" dirty="0">
                <a:solidFill>
                  <a:srgbClr val="0B2545"/>
                </a:solidFill>
              </a:rPr>
              <a:t>4-bit Datapath</a:t>
            </a:r>
            <a:endParaRPr lang="en-US" sz="1300" dirty="0"/>
          </a:p>
        </p:txBody>
      </p:sp>
      <p:sp>
        <p:nvSpPr>
          <p:cNvPr id="7" name="Text 4"/>
          <p:cNvSpPr txBox="1"/>
          <p:nvPr/>
        </p:nvSpPr>
        <p:spPr>
          <a:xfrm>
            <a:off x="640080" y="1554480"/>
            <a:ext cx="2377440" cy="1005840"/>
          </a:xfrm>
          <a:prstGeom prst="rect">
            <a:avLst/>
          </a:prstGeom>
          <a:noFill/>
          <a:ln/>
        </p:spPr>
        <p:txBody>
          <a:bodyPr wrap="square" lIns="0" tIns="0" rIns="0" bIns="0" rtlCol="0" anchor="t"/>
          <a:lstStyle/>
          <a:p>
            <a:pPr marL="0" indent="0">
              <a:buNone/>
            </a:pPr>
            <a:r>
              <a:rPr lang="en-US" sz="1100" dirty="0">
                <a:solidFill>
                  <a:srgbClr val="1B1F2A"/>
                </a:solidFill>
              </a:rPr>
              <a:t>Signed &amp; unsigned 4-bit integers</a:t>
            </a:r>
            <a:endParaRPr lang="en-US" sz="1100" dirty="0"/>
          </a:p>
        </p:txBody>
      </p:sp>
      <p:sp>
        <p:nvSpPr>
          <p:cNvPr id="8" name="card2"/>
          <p:cNvSpPr/>
          <p:nvPr/>
        </p:nvSpPr>
        <p:spPr>
          <a:xfrm>
            <a:off x="3246120" y="1143000"/>
            <a:ext cx="2651760" cy="1463040"/>
          </a:xfrm>
          <a:prstGeom prst="rect">
            <a:avLst/>
          </a:prstGeom>
          <a:solidFill>
            <a:srgbClr val="FFFFFF"/>
          </a:solidFill>
          <a:ln w="9525">
            <a:solidFill>
              <a:srgbClr val="DDE3EA"/>
            </a:solidFill>
            <a:prstDash val="solid"/>
          </a:ln>
        </p:spPr>
      </p:sp>
      <p:sp>
        <p:nvSpPr>
          <p:cNvPr id="9" name="Shape 6"/>
          <p:cNvSpPr/>
          <p:nvPr/>
        </p:nvSpPr>
        <p:spPr>
          <a:xfrm>
            <a:off x="3246120" y="1143000"/>
            <a:ext cx="64008" cy="1463040"/>
          </a:xfrm>
          <a:prstGeom prst="rect">
            <a:avLst/>
          </a:prstGeom>
          <a:solidFill>
            <a:srgbClr val="F28C28"/>
          </a:solidFill>
          <a:ln w="12700">
            <a:solidFill>
              <a:srgbClr val="F28C28"/>
            </a:solidFill>
            <a:prstDash val="solid"/>
          </a:ln>
        </p:spPr>
      </p:sp>
      <p:sp>
        <p:nvSpPr>
          <p:cNvPr id="10" name="Text 7"/>
          <p:cNvSpPr txBox="1"/>
          <p:nvPr/>
        </p:nvSpPr>
        <p:spPr>
          <a:xfrm>
            <a:off x="3429000" y="1216152"/>
            <a:ext cx="2377440" cy="320040"/>
          </a:xfrm>
          <a:prstGeom prst="rect">
            <a:avLst/>
          </a:prstGeom>
          <a:noFill/>
          <a:ln/>
        </p:spPr>
        <p:txBody>
          <a:bodyPr wrap="square" lIns="0" tIns="0" rIns="0" bIns="0" rtlCol="0" anchor="ctr"/>
          <a:lstStyle/>
          <a:p>
            <a:pPr marL="0" indent="0">
              <a:buNone/>
            </a:pPr>
            <a:r>
              <a:rPr lang="en-US" sz="1300" b="1" dirty="0">
                <a:solidFill>
                  <a:srgbClr val="0B2545"/>
                </a:solidFill>
              </a:rPr>
              <a:t>12-bit Fixed ISA</a:t>
            </a:r>
            <a:endParaRPr lang="en-US" sz="1300" dirty="0"/>
          </a:p>
        </p:txBody>
      </p:sp>
      <p:sp>
        <p:nvSpPr>
          <p:cNvPr id="11" name="Text 8"/>
          <p:cNvSpPr txBox="1"/>
          <p:nvPr/>
        </p:nvSpPr>
        <p:spPr>
          <a:xfrm>
            <a:off x="3429000" y="1554480"/>
            <a:ext cx="2377440" cy="1005840"/>
          </a:xfrm>
          <a:prstGeom prst="rect">
            <a:avLst/>
          </a:prstGeom>
          <a:noFill/>
          <a:ln/>
        </p:spPr>
        <p:txBody>
          <a:bodyPr wrap="square" lIns="0" tIns="0" rIns="0" bIns="0" rtlCol="0" anchor="t"/>
          <a:lstStyle/>
          <a:p>
            <a:pPr marL="0" indent="0">
              <a:buNone/>
            </a:pPr>
            <a:r>
              <a:rPr lang="en-US" sz="1100" dirty="0">
                <a:solidFill>
                  <a:srgbClr val="1B1F2A"/>
                </a:solidFill>
              </a:rPr>
              <a:t>Opcode [11:8], Rd, Rs, imm</a:t>
            </a:r>
            <a:endParaRPr lang="en-US" sz="1100" dirty="0"/>
          </a:p>
        </p:txBody>
      </p:sp>
      <p:sp>
        <p:nvSpPr>
          <p:cNvPr id="12" name="card3"/>
          <p:cNvSpPr/>
          <p:nvPr/>
        </p:nvSpPr>
        <p:spPr>
          <a:xfrm>
            <a:off x="6035040" y="1143000"/>
            <a:ext cx="2651760" cy="1463040"/>
          </a:xfrm>
          <a:prstGeom prst="rect">
            <a:avLst/>
          </a:prstGeom>
          <a:solidFill>
            <a:srgbClr val="FFFFFF"/>
          </a:solidFill>
          <a:ln w="9525">
            <a:solidFill>
              <a:srgbClr val="DDE3EA"/>
            </a:solidFill>
            <a:prstDash val="solid"/>
          </a:ln>
        </p:spPr>
      </p:sp>
      <p:sp>
        <p:nvSpPr>
          <p:cNvPr id="13" name="Shape 10"/>
          <p:cNvSpPr/>
          <p:nvPr/>
        </p:nvSpPr>
        <p:spPr>
          <a:xfrm>
            <a:off x="6035040" y="1143000"/>
            <a:ext cx="64008" cy="1463040"/>
          </a:xfrm>
          <a:prstGeom prst="rect">
            <a:avLst/>
          </a:prstGeom>
          <a:solidFill>
            <a:srgbClr val="13A89E"/>
          </a:solidFill>
          <a:ln w="12700">
            <a:solidFill>
              <a:srgbClr val="13A89E"/>
            </a:solidFill>
            <a:prstDash val="solid"/>
          </a:ln>
        </p:spPr>
      </p:sp>
      <p:sp>
        <p:nvSpPr>
          <p:cNvPr id="14" name="Text 11"/>
          <p:cNvSpPr txBox="1"/>
          <p:nvPr/>
        </p:nvSpPr>
        <p:spPr>
          <a:xfrm>
            <a:off x="6217920" y="1216152"/>
            <a:ext cx="2377440" cy="320040"/>
          </a:xfrm>
          <a:prstGeom prst="rect">
            <a:avLst/>
          </a:prstGeom>
          <a:noFill/>
          <a:ln/>
        </p:spPr>
        <p:txBody>
          <a:bodyPr wrap="square" lIns="0" tIns="0" rIns="0" bIns="0" rtlCol="0" anchor="ctr"/>
          <a:lstStyle/>
          <a:p>
            <a:pPr marL="0" indent="0">
              <a:buNone/>
            </a:pPr>
            <a:r>
              <a:rPr lang="en-US" sz="1300" b="1" dirty="0">
                <a:solidFill>
                  <a:srgbClr val="0B2545"/>
                </a:solidFill>
              </a:rPr>
              <a:t>Register File</a:t>
            </a:r>
            <a:endParaRPr lang="en-US" sz="1300" dirty="0"/>
          </a:p>
        </p:txBody>
      </p:sp>
      <p:sp>
        <p:nvSpPr>
          <p:cNvPr id="15" name="Text 12"/>
          <p:cNvSpPr txBox="1"/>
          <p:nvPr/>
        </p:nvSpPr>
        <p:spPr>
          <a:xfrm>
            <a:off x="6217920" y="1554480"/>
            <a:ext cx="2377440" cy="1005840"/>
          </a:xfrm>
          <a:prstGeom prst="rect">
            <a:avLst/>
          </a:prstGeom>
          <a:noFill/>
          <a:ln/>
        </p:spPr>
        <p:txBody>
          <a:bodyPr wrap="square" lIns="0" tIns="0" rIns="0" bIns="0" rtlCol="0" anchor="t"/>
          <a:lstStyle/>
          <a:p>
            <a:pPr marL="0" indent="0">
              <a:buNone/>
            </a:pPr>
            <a:r>
              <a:rPr lang="en-US" sz="1100" dirty="0">
                <a:solidFill>
                  <a:srgbClr val="1B1F2A"/>
                </a:solidFill>
              </a:rPr>
              <a:t>4 × 4-bit regs (R0–R3), 2 async read ports, 1 sync write port</a:t>
            </a:r>
            <a:endParaRPr lang="en-US" sz="1100" dirty="0"/>
          </a:p>
        </p:txBody>
      </p:sp>
      <p:sp>
        <p:nvSpPr>
          <p:cNvPr id="16" name="card4"/>
          <p:cNvSpPr/>
          <p:nvPr/>
        </p:nvSpPr>
        <p:spPr>
          <a:xfrm>
            <a:off x="457200" y="2743200"/>
            <a:ext cx="2651760" cy="1463040"/>
          </a:xfrm>
          <a:prstGeom prst="rect">
            <a:avLst/>
          </a:prstGeom>
          <a:solidFill>
            <a:srgbClr val="FFFFFF"/>
          </a:solidFill>
          <a:ln w="9525">
            <a:solidFill>
              <a:srgbClr val="DDE3EA"/>
            </a:solidFill>
            <a:prstDash val="solid"/>
          </a:ln>
        </p:spPr>
      </p:sp>
      <p:sp>
        <p:nvSpPr>
          <p:cNvPr id="17" name="Shape 14"/>
          <p:cNvSpPr/>
          <p:nvPr/>
        </p:nvSpPr>
        <p:spPr>
          <a:xfrm>
            <a:off x="457200" y="2743200"/>
            <a:ext cx="64008" cy="1463040"/>
          </a:xfrm>
          <a:prstGeom prst="rect">
            <a:avLst/>
          </a:prstGeom>
          <a:solidFill>
            <a:srgbClr val="F28C28"/>
          </a:solidFill>
          <a:ln w="12700">
            <a:solidFill>
              <a:srgbClr val="F28C28"/>
            </a:solidFill>
            <a:prstDash val="solid"/>
          </a:ln>
        </p:spPr>
      </p:sp>
      <p:sp>
        <p:nvSpPr>
          <p:cNvPr id="18" name="Text 15"/>
          <p:cNvSpPr txBox="1"/>
          <p:nvPr/>
        </p:nvSpPr>
        <p:spPr>
          <a:xfrm>
            <a:off x="640080" y="2816352"/>
            <a:ext cx="2377440" cy="320040"/>
          </a:xfrm>
          <a:prstGeom prst="rect">
            <a:avLst/>
          </a:prstGeom>
          <a:noFill/>
          <a:ln/>
        </p:spPr>
        <p:txBody>
          <a:bodyPr wrap="square" lIns="0" tIns="0" rIns="0" bIns="0" rtlCol="0" anchor="ctr"/>
          <a:lstStyle/>
          <a:p>
            <a:pPr marL="0" indent="0">
              <a:buNone/>
            </a:pPr>
            <a:r>
              <a:rPr lang="en-US" sz="1300" b="1" dirty="0">
                <a:solidFill>
                  <a:srgbClr val="0B2545"/>
                </a:solidFill>
              </a:rPr>
              <a:t>Harvard Memory</a:t>
            </a:r>
            <a:endParaRPr lang="en-US" sz="1300" dirty="0"/>
          </a:p>
        </p:txBody>
      </p:sp>
      <p:sp>
        <p:nvSpPr>
          <p:cNvPr id="19" name="Text 16"/>
          <p:cNvSpPr txBox="1"/>
          <p:nvPr/>
        </p:nvSpPr>
        <p:spPr>
          <a:xfrm>
            <a:off x="640080" y="3154680"/>
            <a:ext cx="2377440" cy="1005840"/>
          </a:xfrm>
          <a:prstGeom prst="rect">
            <a:avLst/>
          </a:prstGeom>
          <a:noFill/>
          <a:ln/>
        </p:spPr>
        <p:txBody>
          <a:bodyPr wrap="square" lIns="0" tIns="0" rIns="0" bIns="0" rtlCol="0" anchor="t"/>
          <a:lstStyle/>
          <a:p>
            <a:pPr marL="0" indent="0">
              <a:buNone/>
            </a:pPr>
            <a:r>
              <a:rPr lang="en-US" sz="1100" dirty="0">
                <a:solidFill>
                  <a:srgbClr val="1B1F2A"/>
                </a:solidFill>
              </a:rPr>
              <a:t>IMEM: 16 × 12-bit ROM</a:t>
            </a:r>
            <a:endParaRPr lang="en-US" sz="1100" dirty="0"/>
          </a:p>
          <a:p>
            <a:pPr marL="0" indent="0">
              <a:buNone/>
            </a:pPr>
            <a:r>
              <a:rPr lang="en-US" sz="1100" dirty="0">
                <a:solidFill>
                  <a:srgbClr val="1B1F2A"/>
                </a:solidFill>
              </a:rPr>
              <a:t>DMEM: 16 × 4-bit RAM</a:t>
            </a:r>
            <a:endParaRPr lang="en-US" sz="1100" dirty="0"/>
          </a:p>
        </p:txBody>
      </p:sp>
      <p:sp>
        <p:nvSpPr>
          <p:cNvPr id="20" name="card5"/>
          <p:cNvSpPr/>
          <p:nvPr/>
        </p:nvSpPr>
        <p:spPr>
          <a:xfrm>
            <a:off x="3246120" y="2743200"/>
            <a:ext cx="2651760" cy="1463040"/>
          </a:xfrm>
          <a:prstGeom prst="rect">
            <a:avLst/>
          </a:prstGeom>
          <a:solidFill>
            <a:srgbClr val="FFFFFF"/>
          </a:solidFill>
          <a:ln w="9525">
            <a:solidFill>
              <a:srgbClr val="DDE3EA"/>
            </a:solidFill>
            <a:prstDash val="solid"/>
          </a:ln>
        </p:spPr>
      </p:sp>
      <p:sp>
        <p:nvSpPr>
          <p:cNvPr id="21" name="Shape 18"/>
          <p:cNvSpPr/>
          <p:nvPr/>
        </p:nvSpPr>
        <p:spPr>
          <a:xfrm>
            <a:off x="3246120" y="2743200"/>
            <a:ext cx="64008" cy="1463040"/>
          </a:xfrm>
          <a:prstGeom prst="rect">
            <a:avLst/>
          </a:prstGeom>
          <a:solidFill>
            <a:srgbClr val="13A89E"/>
          </a:solidFill>
          <a:ln w="12700">
            <a:solidFill>
              <a:srgbClr val="13A89E"/>
            </a:solidFill>
            <a:prstDash val="solid"/>
          </a:ln>
        </p:spPr>
      </p:sp>
      <p:sp>
        <p:nvSpPr>
          <p:cNvPr id="22" name="Text 19"/>
          <p:cNvSpPr txBox="1"/>
          <p:nvPr/>
        </p:nvSpPr>
        <p:spPr>
          <a:xfrm>
            <a:off x="3429000" y="2816352"/>
            <a:ext cx="2377440" cy="320040"/>
          </a:xfrm>
          <a:prstGeom prst="rect">
            <a:avLst/>
          </a:prstGeom>
          <a:noFill/>
          <a:ln/>
        </p:spPr>
        <p:txBody>
          <a:bodyPr wrap="square" lIns="0" tIns="0" rIns="0" bIns="0" rtlCol="0" anchor="ctr"/>
          <a:lstStyle/>
          <a:p>
            <a:pPr marL="0" indent="0">
              <a:buNone/>
            </a:pPr>
            <a:r>
              <a:rPr lang="en-US" sz="1300" b="1" dirty="0">
                <a:solidFill>
                  <a:srgbClr val="0B2545"/>
                </a:solidFill>
              </a:rPr>
              <a:t>Throughput</a:t>
            </a:r>
            <a:endParaRPr lang="en-US" sz="1300" dirty="0"/>
          </a:p>
        </p:txBody>
      </p:sp>
      <p:sp>
        <p:nvSpPr>
          <p:cNvPr id="23" name="Text 20"/>
          <p:cNvSpPr txBox="1"/>
          <p:nvPr/>
        </p:nvSpPr>
        <p:spPr>
          <a:xfrm>
            <a:off x="3429000" y="3154680"/>
            <a:ext cx="2377440" cy="1005840"/>
          </a:xfrm>
          <a:prstGeom prst="rect">
            <a:avLst/>
          </a:prstGeom>
          <a:noFill/>
          <a:ln/>
        </p:spPr>
        <p:txBody>
          <a:bodyPr wrap="square" lIns="0" tIns="0" rIns="0" bIns="0" rtlCol="0" anchor="t"/>
          <a:lstStyle/>
          <a:p>
            <a:pPr marL="0" indent="0">
              <a:buNone/>
            </a:pPr>
            <a:r>
              <a:rPr lang="en-US" sz="1100" dirty="0">
                <a:solidFill>
                  <a:srgbClr val="1B1F2A"/>
                </a:solidFill>
              </a:rPr>
              <a:t>1 instruction / clock (CPI = 1 once pipeline is primed)</a:t>
            </a:r>
            <a:endParaRPr lang="en-US" sz="1100" dirty="0"/>
          </a:p>
        </p:txBody>
      </p:sp>
      <p:sp>
        <p:nvSpPr>
          <p:cNvPr id="24" name="card6"/>
          <p:cNvSpPr/>
          <p:nvPr/>
        </p:nvSpPr>
        <p:spPr>
          <a:xfrm>
            <a:off x="6035040" y="2743200"/>
            <a:ext cx="2651760" cy="1463040"/>
          </a:xfrm>
          <a:prstGeom prst="rect">
            <a:avLst/>
          </a:prstGeom>
          <a:solidFill>
            <a:srgbClr val="FFFFFF"/>
          </a:solidFill>
          <a:ln w="9525">
            <a:solidFill>
              <a:srgbClr val="DDE3EA"/>
            </a:solidFill>
            <a:prstDash val="solid"/>
          </a:ln>
        </p:spPr>
      </p:sp>
      <p:sp>
        <p:nvSpPr>
          <p:cNvPr id="25" name="Shape 22"/>
          <p:cNvSpPr/>
          <p:nvPr/>
        </p:nvSpPr>
        <p:spPr>
          <a:xfrm>
            <a:off x="6035040" y="2743200"/>
            <a:ext cx="64008" cy="1463040"/>
          </a:xfrm>
          <a:prstGeom prst="rect">
            <a:avLst/>
          </a:prstGeom>
          <a:solidFill>
            <a:srgbClr val="F28C28"/>
          </a:solidFill>
          <a:ln w="12700">
            <a:solidFill>
              <a:srgbClr val="F28C28"/>
            </a:solidFill>
            <a:prstDash val="solid"/>
          </a:ln>
        </p:spPr>
      </p:sp>
      <p:sp>
        <p:nvSpPr>
          <p:cNvPr id="26" name="Text 23"/>
          <p:cNvSpPr txBox="1"/>
          <p:nvPr/>
        </p:nvSpPr>
        <p:spPr>
          <a:xfrm>
            <a:off x="6217920" y="2816352"/>
            <a:ext cx="2377440" cy="320040"/>
          </a:xfrm>
          <a:prstGeom prst="rect">
            <a:avLst/>
          </a:prstGeom>
          <a:noFill/>
          <a:ln/>
        </p:spPr>
        <p:txBody>
          <a:bodyPr wrap="square" lIns="0" tIns="0" rIns="0" bIns="0" rtlCol="0" anchor="ctr"/>
          <a:lstStyle/>
          <a:p>
            <a:pPr marL="0" indent="0">
              <a:buNone/>
            </a:pPr>
            <a:r>
              <a:rPr lang="en-US" sz="1300" b="1" dirty="0">
                <a:solidFill>
                  <a:srgbClr val="0B2545"/>
                </a:solidFill>
              </a:rPr>
              <a:t>Branch Hazards</a:t>
            </a:r>
            <a:endParaRPr lang="en-US" sz="1300" dirty="0"/>
          </a:p>
        </p:txBody>
      </p:sp>
      <p:sp>
        <p:nvSpPr>
          <p:cNvPr id="27" name="Text 24"/>
          <p:cNvSpPr txBox="1"/>
          <p:nvPr/>
        </p:nvSpPr>
        <p:spPr>
          <a:xfrm>
            <a:off x="6217920" y="3154680"/>
            <a:ext cx="2377440" cy="1005840"/>
          </a:xfrm>
          <a:prstGeom prst="rect">
            <a:avLst/>
          </a:prstGeom>
          <a:noFill/>
          <a:ln/>
        </p:spPr>
        <p:txBody>
          <a:bodyPr wrap="square" lIns="0" tIns="0" rIns="0" bIns="0" rtlCol="0" anchor="t"/>
          <a:lstStyle/>
          <a:p>
            <a:pPr marL="0" indent="0">
              <a:buNone/>
            </a:pPr>
            <a:r>
              <a:rPr lang="en-US" sz="1100" dirty="0">
                <a:solidFill>
                  <a:srgbClr val="1B1F2A"/>
                </a:solidFill>
              </a:rPr>
              <a:t>JMP / JZ resolved at EX with automatic 2-bubble flush</a:t>
            </a:r>
            <a:endParaRPr lang="en-US" sz="1100" dirty="0"/>
          </a:p>
        </p:txBody>
      </p:sp>
      <p:sp>
        <p:nvSpPr>
          <p:cNvPr id="28" name="Shape 25"/>
          <p:cNvSpPr/>
          <p:nvPr/>
        </p:nvSpPr>
        <p:spPr>
          <a:xfrm>
            <a:off x="457200" y="4389120"/>
            <a:ext cx="8229600" cy="411480"/>
          </a:xfrm>
          <a:prstGeom prst="rect">
            <a:avLst/>
          </a:prstGeom>
          <a:solidFill>
            <a:srgbClr val="0B2545"/>
          </a:solidFill>
          <a:ln w="12700">
            <a:solidFill>
              <a:srgbClr val="0B2545"/>
            </a:solidFill>
            <a:prstDash val="solid"/>
          </a:ln>
        </p:spPr>
      </p:sp>
      <p:sp>
        <p:nvSpPr>
          <p:cNvPr id="29" name="Text 26"/>
          <p:cNvSpPr txBox="1"/>
          <p:nvPr/>
        </p:nvSpPr>
        <p:spPr>
          <a:xfrm>
            <a:off x="457200" y="4389120"/>
            <a:ext cx="8229600" cy="411480"/>
          </a:xfrm>
          <a:prstGeom prst="rect">
            <a:avLst/>
          </a:prstGeom>
          <a:noFill/>
          <a:ln/>
        </p:spPr>
        <p:txBody>
          <a:bodyPr wrap="square" rtlCol="0" anchor="ctr"/>
          <a:lstStyle/>
          <a:p>
            <a:pPr marL="0" indent="0" algn="ctr">
              <a:buNone/>
            </a:pPr>
            <a:r>
              <a:rPr lang="en-US" sz="1400" b="1" dirty="0">
                <a:solidFill>
                  <a:srgbClr val="FFFFFF"/>
                </a:solidFill>
              </a:rPr>
              <a:t>Verification: 88 / 88 automated simulation checks PASSED (100%)</a:t>
            </a:r>
            <a:endParaRPr lang="en-US" sz="1400" dirty="0"/>
          </a:p>
        </p:txBody>
      </p:sp>
      <p:sp>
        <p:nvSpPr>
          <p:cNvPr id="3"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D99AE"/>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457200" y="109728"/>
            <a:ext cx="8229600" cy="64008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Part A – Architecture &amp; Pipeline</a:t>
            </a:r>
            <a:endParaRPr lang="en-US" sz="2400" dirty="0"/>
          </a:p>
        </p:txBody>
      </p:sp>
      <p:sp>
        <p:nvSpPr>
          <p:cNvPr id="4" name="Shape 1"/>
          <p:cNvSpPr/>
          <p:nvPr/>
        </p:nvSpPr>
        <p:spPr>
          <a:xfrm>
            <a:off x="457200" y="1188720"/>
            <a:ext cx="2560320" cy="457200"/>
          </a:xfrm>
          <a:prstGeom prst="rect">
            <a:avLst/>
          </a:prstGeom>
          <a:solidFill>
            <a:srgbClr val="13A89E"/>
          </a:solidFill>
          <a:ln w="12700">
            <a:solidFill>
              <a:srgbClr val="13A89E"/>
            </a:solidFill>
            <a:prstDash val="solid"/>
          </a:ln>
        </p:spPr>
      </p:sp>
      <p:sp>
        <p:nvSpPr>
          <p:cNvPr id="5" name="Text 2"/>
          <p:cNvSpPr txBox="1"/>
          <p:nvPr/>
        </p:nvSpPr>
        <p:spPr>
          <a:xfrm>
            <a:off x="457200" y="1188720"/>
            <a:ext cx="2560320" cy="457200"/>
          </a:xfrm>
          <a:prstGeom prst="rect">
            <a:avLst/>
          </a:prstGeom>
          <a:noFill/>
          <a:ln/>
        </p:spPr>
        <p:txBody>
          <a:bodyPr wrap="square" rtlCol="0" anchor="ctr"/>
          <a:lstStyle/>
          <a:p>
            <a:pPr marL="0" indent="0" algn="ctr">
              <a:buNone/>
            </a:pPr>
            <a:r>
              <a:rPr lang="en-US" sz="1500" b="1" dirty="0">
                <a:solidFill>
                  <a:srgbClr val="FFFFFF"/>
                </a:solidFill>
              </a:rPr>
              <a:t>Stage 1 – IF</a:t>
            </a:r>
            <a:endParaRPr lang="en-US" sz="1500" dirty="0"/>
          </a:p>
        </p:txBody>
      </p:sp>
      <p:sp>
        <p:nvSpPr>
          <p:cNvPr id="6" name="Shape 3"/>
          <p:cNvSpPr/>
          <p:nvPr/>
        </p:nvSpPr>
        <p:spPr>
          <a:xfrm>
            <a:off x="457200" y="1645920"/>
            <a:ext cx="2560320" cy="1508760"/>
          </a:xfrm>
          <a:prstGeom prst="rect">
            <a:avLst/>
          </a:prstGeom>
          <a:solidFill>
            <a:srgbClr val="FFFFFF"/>
          </a:solidFill>
          <a:ln w="9525">
            <a:solidFill>
              <a:srgbClr val="DDE3EA"/>
            </a:solidFill>
            <a:prstDash val="solid"/>
          </a:ln>
        </p:spPr>
      </p:sp>
      <p:sp>
        <p:nvSpPr>
          <p:cNvPr id="7" name="Text 4"/>
          <p:cNvSpPr txBox="1"/>
          <p:nvPr/>
        </p:nvSpPr>
        <p:spPr>
          <a:xfrm>
            <a:off x="594360" y="1737360"/>
            <a:ext cx="2286000" cy="1371600"/>
          </a:xfrm>
          <a:prstGeom prst="rect">
            <a:avLst/>
          </a:prstGeom>
          <a:noFill/>
          <a:ln/>
        </p:spPr>
        <p:txBody>
          <a:bodyPr wrap="square" lIns="0" tIns="0" rIns="0" bIns="0" rtlCol="0" anchor="t"/>
          <a:lstStyle/>
          <a:p>
            <a:pPr marL="0" indent="0">
              <a:buNone/>
            </a:pPr>
            <a:r>
              <a:rPr lang="en-US" sz="1200" dirty="0">
                <a:solidFill>
                  <a:srgbClr val="1B1F2A"/>
                </a:solidFill>
              </a:rPr>
              <a:t>program_counter</a:t>
            </a:r>
            <a:endParaRPr lang="en-US" sz="1200" dirty="0"/>
          </a:p>
          <a:p>
            <a:pPr marL="0" indent="0">
              <a:buNone/>
            </a:pPr>
            <a:r>
              <a:rPr lang="en-US" sz="1200" dirty="0">
                <a:solidFill>
                  <a:srgbClr val="1B1F2A"/>
                </a:solidFill>
              </a:rPr>
              <a:t>instruction_memory (ROM)</a:t>
            </a:r>
            <a:endParaRPr lang="en-US" sz="1200" dirty="0"/>
          </a:p>
          <a:p>
            <a:pPr marL="0" indent="0">
              <a:buNone/>
            </a:pPr>
            <a:r>
              <a:rPr lang="en-US" sz="1200" dirty="0">
                <a:solidFill>
                  <a:srgbClr val="1B1F2A"/>
                </a:solidFill>
              </a:rPr>
              <a:t>PC + 1 or branch target</a:t>
            </a:r>
            <a:endParaRPr lang="en-US" sz="1200" dirty="0"/>
          </a:p>
        </p:txBody>
      </p:sp>
      <p:sp>
        <p:nvSpPr>
          <p:cNvPr id="8" name="Text 5"/>
          <p:cNvSpPr txBox="1"/>
          <p:nvPr/>
        </p:nvSpPr>
        <p:spPr>
          <a:xfrm>
            <a:off x="3017520" y="2011680"/>
            <a:ext cx="274320" cy="365760"/>
          </a:xfrm>
          <a:prstGeom prst="rect">
            <a:avLst/>
          </a:prstGeom>
          <a:noFill/>
          <a:ln/>
        </p:spPr>
        <p:txBody>
          <a:bodyPr wrap="square" rtlCol="0" anchor="ctr"/>
          <a:lstStyle/>
          <a:p>
            <a:pPr marL="0" indent="0" algn="ctr">
              <a:buNone/>
            </a:pPr>
            <a:r>
              <a:rPr lang="en-US" sz="1600" dirty="0">
                <a:solidFill>
                  <a:srgbClr val="0B2545"/>
                </a:solidFill>
              </a:rPr>
              <a:t>▶</a:t>
            </a:r>
            <a:endParaRPr lang="en-US" sz="1600" dirty="0"/>
          </a:p>
        </p:txBody>
      </p:sp>
      <p:sp>
        <p:nvSpPr>
          <p:cNvPr id="9" name="Shape 6"/>
          <p:cNvSpPr/>
          <p:nvPr/>
        </p:nvSpPr>
        <p:spPr>
          <a:xfrm>
            <a:off x="3291840" y="1188720"/>
            <a:ext cx="2560320" cy="457200"/>
          </a:xfrm>
          <a:prstGeom prst="rect">
            <a:avLst/>
          </a:prstGeom>
          <a:solidFill>
            <a:srgbClr val="3E7CB1"/>
          </a:solidFill>
          <a:ln w="12700">
            <a:solidFill>
              <a:srgbClr val="3E7CB1"/>
            </a:solidFill>
            <a:prstDash val="solid"/>
          </a:ln>
        </p:spPr>
      </p:sp>
      <p:sp>
        <p:nvSpPr>
          <p:cNvPr id="10" name="Text 7"/>
          <p:cNvSpPr txBox="1"/>
          <p:nvPr/>
        </p:nvSpPr>
        <p:spPr>
          <a:xfrm>
            <a:off x="3291840" y="1188720"/>
            <a:ext cx="2560320" cy="457200"/>
          </a:xfrm>
          <a:prstGeom prst="rect">
            <a:avLst/>
          </a:prstGeom>
          <a:noFill/>
          <a:ln/>
        </p:spPr>
        <p:txBody>
          <a:bodyPr wrap="square" rtlCol="0" anchor="ctr"/>
          <a:lstStyle/>
          <a:p>
            <a:pPr marL="0" indent="0" algn="ctr">
              <a:buNone/>
            </a:pPr>
            <a:r>
              <a:rPr lang="en-US" sz="1500" b="1" dirty="0">
                <a:solidFill>
                  <a:srgbClr val="FFFFFF"/>
                </a:solidFill>
              </a:rPr>
              <a:t>Stage 2 – ID</a:t>
            </a:r>
            <a:endParaRPr lang="en-US" sz="1500" dirty="0"/>
          </a:p>
        </p:txBody>
      </p:sp>
      <p:sp>
        <p:nvSpPr>
          <p:cNvPr id="11" name="Shape 8"/>
          <p:cNvSpPr/>
          <p:nvPr/>
        </p:nvSpPr>
        <p:spPr>
          <a:xfrm>
            <a:off x="3291840" y="1645920"/>
            <a:ext cx="2560320" cy="1508760"/>
          </a:xfrm>
          <a:prstGeom prst="rect">
            <a:avLst/>
          </a:prstGeom>
          <a:solidFill>
            <a:srgbClr val="FFFFFF"/>
          </a:solidFill>
          <a:ln w="9525">
            <a:solidFill>
              <a:srgbClr val="DDE3EA"/>
            </a:solidFill>
            <a:prstDash val="solid"/>
          </a:ln>
        </p:spPr>
      </p:sp>
      <p:sp>
        <p:nvSpPr>
          <p:cNvPr id="12" name="Text 9"/>
          <p:cNvSpPr txBox="1"/>
          <p:nvPr/>
        </p:nvSpPr>
        <p:spPr>
          <a:xfrm>
            <a:off x="3429000" y="1737360"/>
            <a:ext cx="2286000" cy="1371600"/>
          </a:xfrm>
          <a:prstGeom prst="rect">
            <a:avLst/>
          </a:prstGeom>
          <a:noFill/>
          <a:ln/>
        </p:spPr>
        <p:txBody>
          <a:bodyPr wrap="square" lIns="0" tIns="0" rIns="0" bIns="0" rtlCol="0" anchor="t"/>
          <a:lstStyle/>
          <a:p>
            <a:pPr marL="0" indent="0">
              <a:buNone/>
            </a:pPr>
            <a:r>
              <a:rPr lang="en-US" sz="1200" dirty="0">
                <a:solidFill>
                  <a:srgbClr val="1B1F2A"/>
                </a:solidFill>
              </a:rPr>
              <a:t>instruction_register (IF/ID)</a:t>
            </a:r>
            <a:endParaRPr lang="en-US" sz="1200" dirty="0"/>
          </a:p>
          <a:p>
            <a:pPr marL="0" indent="0">
              <a:buNone/>
            </a:pPr>
            <a:r>
              <a:rPr lang="en-US" sz="1200" dirty="0">
                <a:solidFill>
                  <a:srgbClr val="1B1F2A"/>
                </a:solidFill>
              </a:rPr>
              <a:t>instruction_decoder</a:t>
            </a:r>
            <a:endParaRPr lang="en-US" sz="1200" dirty="0"/>
          </a:p>
          <a:p>
            <a:pPr marL="0" indent="0">
              <a:buNone/>
            </a:pPr>
            <a:r>
              <a:rPr lang="en-US" sz="1200" dirty="0">
                <a:solidFill>
                  <a:srgbClr val="1B1F2A"/>
                </a:solidFill>
              </a:rPr>
              <a:t>9 control signals</a:t>
            </a:r>
            <a:endParaRPr lang="en-US" sz="1200" dirty="0"/>
          </a:p>
        </p:txBody>
      </p:sp>
      <p:sp>
        <p:nvSpPr>
          <p:cNvPr id="13" name="Text 10"/>
          <p:cNvSpPr txBox="1"/>
          <p:nvPr/>
        </p:nvSpPr>
        <p:spPr>
          <a:xfrm>
            <a:off x="5852160" y="2011680"/>
            <a:ext cx="274320" cy="365760"/>
          </a:xfrm>
          <a:prstGeom prst="rect">
            <a:avLst/>
          </a:prstGeom>
          <a:noFill/>
          <a:ln/>
        </p:spPr>
        <p:txBody>
          <a:bodyPr wrap="square" rtlCol="0" anchor="ctr"/>
          <a:lstStyle/>
          <a:p>
            <a:pPr marL="0" indent="0" algn="ctr">
              <a:buNone/>
            </a:pPr>
            <a:r>
              <a:rPr lang="en-US" sz="1600" dirty="0">
                <a:solidFill>
                  <a:srgbClr val="0B2545"/>
                </a:solidFill>
              </a:rPr>
              <a:t>▶</a:t>
            </a:r>
            <a:endParaRPr lang="en-US" sz="1600" dirty="0"/>
          </a:p>
        </p:txBody>
      </p:sp>
      <p:sp>
        <p:nvSpPr>
          <p:cNvPr id="14" name="Shape 11"/>
          <p:cNvSpPr/>
          <p:nvPr/>
        </p:nvSpPr>
        <p:spPr>
          <a:xfrm>
            <a:off x="6126480" y="1188720"/>
            <a:ext cx="2560320" cy="457200"/>
          </a:xfrm>
          <a:prstGeom prst="rect">
            <a:avLst/>
          </a:prstGeom>
          <a:solidFill>
            <a:srgbClr val="F28C28"/>
          </a:solidFill>
          <a:ln w="12700">
            <a:solidFill>
              <a:srgbClr val="F28C28"/>
            </a:solidFill>
            <a:prstDash val="solid"/>
          </a:ln>
        </p:spPr>
      </p:sp>
      <p:sp>
        <p:nvSpPr>
          <p:cNvPr id="15" name="Text 12"/>
          <p:cNvSpPr txBox="1"/>
          <p:nvPr/>
        </p:nvSpPr>
        <p:spPr>
          <a:xfrm>
            <a:off x="6126480" y="1188720"/>
            <a:ext cx="2560320" cy="457200"/>
          </a:xfrm>
          <a:prstGeom prst="rect">
            <a:avLst/>
          </a:prstGeom>
          <a:noFill/>
          <a:ln/>
        </p:spPr>
        <p:txBody>
          <a:bodyPr wrap="square" rtlCol="0" anchor="ctr"/>
          <a:lstStyle/>
          <a:p>
            <a:pPr marL="0" indent="0" algn="ctr">
              <a:buNone/>
            </a:pPr>
            <a:r>
              <a:rPr lang="en-US" sz="1500" b="1" dirty="0">
                <a:solidFill>
                  <a:srgbClr val="FFFFFF"/>
                </a:solidFill>
              </a:rPr>
              <a:t>Stage 3 – EX</a:t>
            </a:r>
            <a:endParaRPr lang="en-US" sz="1500" dirty="0"/>
          </a:p>
        </p:txBody>
      </p:sp>
      <p:sp>
        <p:nvSpPr>
          <p:cNvPr id="16" name="Shape 13"/>
          <p:cNvSpPr/>
          <p:nvPr/>
        </p:nvSpPr>
        <p:spPr>
          <a:xfrm>
            <a:off x="6126480" y="1645920"/>
            <a:ext cx="2560320" cy="1508760"/>
          </a:xfrm>
          <a:prstGeom prst="rect">
            <a:avLst/>
          </a:prstGeom>
          <a:solidFill>
            <a:srgbClr val="FFFFFF"/>
          </a:solidFill>
          <a:ln w="9525">
            <a:solidFill>
              <a:srgbClr val="DDE3EA"/>
            </a:solidFill>
            <a:prstDash val="solid"/>
          </a:ln>
        </p:spPr>
      </p:sp>
      <p:sp>
        <p:nvSpPr>
          <p:cNvPr id="17" name="Text 14"/>
          <p:cNvSpPr txBox="1"/>
          <p:nvPr/>
        </p:nvSpPr>
        <p:spPr>
          <a:xfrm>
            <a:off x="6263640" y="1737360"/>
            <a:ext cx="2286000" cy="1371600"/>
          </a:xfrm>
          <a:prstGeom prst="rect">
            <a:avLst/>
          </a:prstGeom>
          <a:noFill/>
          <a:ln/>
        </p:spPr>
        <p:txBody>
          <a:bodyPr wrap="square" lIns="0" tIns="0" rIns="0" bIns="0" rtlCol="0" anchor="t"/>
          <a:lstStyle/>
          <a:p>
            <a:pPr marL="0" indent="0">
              <a:buNone/>
            </a:pPr>
            <a:r>
              <a:rPr lang="en-US" sz="1200" dirty="0">
                <a:solidFill>
                  <a:srgbClr val="1B1F2A"/>
                </a:solidFill>
              </a:rPr>
              <a:t>pipeline_register (ID/EX)</a:t>
            </a:r>
            <a:endParaRPr lang="en-US" sz="1200" dirty="0"/>
          </a:p>
          <a:p>
            <a:pPr marL="0" indent="0">
              <a:buNone/>
            </a:pPr>
            <a:r>
              <a:rPr lang="en-US" sz="1200" dirty="0">
                <a:solidFill>
                  <a:srgbClr val="1B1F2A"/>
                </a:solidFill>
              </a:rPr>
              <a:t>register_file · alu</a:t>
            </a:r>
            <a:endParaRPr lang="en-US" sz="1200" dirty="0"/>
          </a:p>
          <a:p>
            <a:pPr marL="0" indent="0">
              <a:buNone/>
            </a:pPr>
            <a:r>
              <a:rPr lang="en-US" sz="1200" dirty="0">
                <a:solidFill>
                  <a:srgbClr val="1B1F2A"/>
                </a:solidFill>
              </a:rPr>
              <a:t>flag_register · data_memory</a:t>
            </a:r>
            <a:endParaRPr lang="en-US" sz="1200" dirty="0"/>
          </a:p>
          <a:p>
            <a:pPr marL="0" indent="0">
              <a:buNone/>
            </a:pPr>
            <a:r>
              <a:rPr lang="en-US" sz="1200" dirty="0">
                <a:solidFill>
                  <a:srgbClr val="1B1F2A"/>
                </a:solidFill>
              </a:rPr>
              <a:t>branch_unit</a:t>
            </a:r>
            <a:endParaRPr lang="en-US" sz="1200" dirty="0"/>
          </a:p>
        </p:txBody>
      </p:sp>
      <p:sp>
        <p:nvSpPr>
          <p:cNvPr id="18" name="Text 15"/>
          <p:cNvSpPr txBox="1"/>
          <p:nvPr/>
        </p:nvSpPr>
        <p:spPr>
          <a:xfrm>
            <a:off x="457200" y="3337560"/>
            <a:ext cx="8229600" cy="457200"/>
          </a:xfrm>
          <a:prstGeom prst="rect">
            <a:avLst/>
          </a:prstGeom>
          <a:noFill/>
          <a:ln/>
        </p:spPr>
        <p:txBody>
          <a:bodyPr wrap="square" lIns="0" tIns="0" rIns="0" bIns="0" rtlCol="0" anchor="ctr"/>
          <a:lstStyle/>
          <a:p>
            <a:pPr marL="0" indent="0">
              <a:buNone/>
            </a:pPr>
            <a:r>
              <a:rPr lang="en-US" sz="1200" b="1" dirty="0">
                <a:solidFill>
                  <a:srgbClr val="000000"/>
                </a:solidFill>
              </a:rPr>
              <a:t>Top level: </a:t>
            </a:r>
            <a:r>
              <a:rPr lang="en-US" sz="1200" dirty="0">
                <a:solidFill>
                  <a:srgbClr val="000000"/>
                </a:solidFill>
              </a:rPr>
              <a:t>cpu_top + 10 sub-modules.  </a:t>
            </a:r>
            <a:r>
              <a:rPr lang="en-US" sz="1200" b="1" dirty="0">
                <a:solidFill>
                  <a:srgbClr val="000000"/>
                </a:solidFill>
              </a:rPr>
              <a:t>mux2 ×3: </a:t>
            </a:r>
            <a:r>
              <a:rPr lang="en-US" sz="1200" dirty="0">
                <a:solidFill>
                  <a:srgbClr val="000000"/>
                </a:solidFill>
              </a:rPr>
              <a:t>PC MUX (PC+1 / target), Operand MUX (Rs / imm), Write-back MUX (ALU / RAM).</a:t>
            </a:r>
            <a:endParaRPr lang="en-US" sz="1200" dirty="0"/>
          </a:p>
        </p:txBody>
      </p:sp>
      <p:sp>
        <p:nvSpPr>
          <p:cNvPr id="19" name="card7"/>
          <p:cNvSpPr/>
          <p:nvPr/>
        </p:nvSpPr>
        <p:spPr>
          <a:xfrm>
            <a:off x="457200" y="3840480"/>
            <a:ext cx="4023360" cy="914400"/>
          </a:xfrm>
          <a:prstGeom prst="rect">
            <a:avLst/>
          </a:prstGeom>
          <a:solidFill>
            <a:srgbClr val="FFFFFF"/>
          </a:solidFill>
          <a:ln w="9525">
            <a:solidFill>
              <a:srgbClr val="DDE3EA"/>
            </a:solidFill>
            <a:prstDash val="solid"/>
          </a:ln>
        </p:spPr>
      </p:sp>
      <p:sp>
        <p:nvSpPr>
          <p:cNvPr id="20" name="Shape 17"/>
          <p:cNvSpPr/>
          <p:nvPr/>
        </p:nvSpPr>
        <p:spPr>
          <a:xfrm>
            <a:off x="457200" y="3840480"/>
            <a:ext cx="64008" cy="914400"/>
          </a:xfrm>
          <a:prstGeom prst="rect">
            <a:avLst/>
          </a:prstGeom>
          <a:solidFill>
            <a:srgbClr val="13A89E"/>
          </a:solidFill>
          <a:ln w="12700">
            <a:solidFill>
              <a:srgbClr val="13A89E"/>
            </a:solidFill>
            <a:prstDash val="solid"/>
          </a:ln>
        </p:spPr>
      </p:sp>
      <p:sp>
        <p:nvSpPr>
          <p:cNvPr id="21" name="Text 18"/>
          <p:cNvSpPr txBox="1"/>
          <p:nvPr/>
        </p:nvSpPr>
        <p:spPr>
          <a:xfrm>
            <a:off x="640080" y="3913632"/>
            <a:ext cx="3749040" cy="320040"/>
          </a:xfrm>
          <a:prstGeom prst="rect">
            <a:avLst/>
          </a:prstGeom>
          <a:noFill/>
          <a:ln/>
        </p:spPr>
        <p:txBody>
          <a:bodyPr wrap="square" lIns="0" tIns="0" rIns="0" bIns="0" rtlCol="0" anchor="ctr"/>
          <a:lstStyle/>
          <a:p>
            <a:pPr marL="0" indent="0">
              <a:buNone/>
            </a:pPr>
            <a:r>
              <a:rPr lang="en-US" sz="1300" b="1" dirty="0">
                <a:solidFill>
                  <a:srgbClr val="0B2545"/>
                </a:solidFill>
              </a:rPr>
              <a:t>ALU</a:t>
            </a:r>
            <a:endParaRPr lang="en-US" sz="1300" dirty="0"/>
          </a:p>
        </p:txBody>
      </p:sp>
      <p:sp>
        <p:nvSpPr>
          <p:cNvPr id="22" name="Text 19"/>
          <p:cNvSpPr txBox="1"/>
          <p:nvPr/>
        </p:nvSpPr>
        <p:spPr>
          <a:xfrm>
            <a:off x="640080" y="4251960"/>
            <a:ext cx="3749040" cy="457200"/>
          </a:xfrm>
          <a:prstGeom prst="rect">
            <a:avLst/>
          </a:prstGeom>
          <a:noFill/>
          <a:ln/>
        </p:spPr>
        <p:txBody>
          <a:bodyPr wrap="square" lIns="0" tIns="0" rIns="0" bIns="0" rtlCol="0" anchor="t"/>
          <a:lstStyle/>
          <a:p>
            <a:pPr marL="0" indent="0">
              <a:buNone/>
            </a:pPr>
            <a:r>
              <a:rPr lang="en-US" sz="1100" dirty="0">
                <a:solidFill>
                  <a:srgbClr val="1B1F2A"/>
                </a:solidFill>
              </a:rPr>
              <a:t>Shared adder_subtractor (ARM carry = no-borrow), logic_unit (AND/OR/XOR/NOT/PASS), zero_detector</a:t>
            </a:r>
            <a:endParaRPr lang="en-US" sz="1100" dirty="0"/>
          </a:p>
        </p:txBody>
      </p:sp>
      <p:sp>
        <p:nvSpPr>
          <p:cNvPr id="23" name="card8"/>
          <p:cNvSpPr/>
          <p:nvPr/>
        </p:nvSpPr>
        <p:spPr>
          <a:xfrm>
            <a:off x="4663440" y="3840480"/>
            <a:ext cx="4023360" cy="914400"/>
          </a:xfrm>
          <a:prstGeom prst="rect">
            <a:avLst/>
          </a:prstGeom>
          <a:solidFill>
            <a:srgbClr val="FFFFFF"/>
          </a:solidFill>
          <a:ln w="9525">
            <a:solidFill>
              <a:srgbClr val="DDE3EA"/>
            </a:solidFill>
            <a:prstDash val="solid"/>
          </a:ln>
        </p:spPr>
      </p:sp>
      <p:sp>
        <p:nvSpPr>
          <p:cNvPr id="24" name="Shape 21"/>
          <p:cNvSpPr/>
          <p:nvPr/>
        </p:nvSpPr>
        <p:spPr>
          <a:xfrm>
            <a:off x="4663440" y="3840480"/>
            <a:ext cx="64008" cy="914400"/>
          </a:xfrm>
          <a:prstGeom prst="rect">
            <a:avLst/>
          </a:prstGeom>
          <a:solidFill>
            <a:srgbClr val="F28C28"/>
          </a:solidFill>
          <a:ln w="12700">
            <a:solidFill>
              <a:srgbClr val="F28C28"/>
            </a:solidFill>
            <a:prstDash val="solid"/>
          </a:ln>
        </p:spPr>
      </p:sp>
      <p:sp>
        <p:nvSpPr>
          <p:cNvPr id="25" name="Text 22"/>
          <p:cNvSpPr txBox="1"/>
          <p:nvPr/>
        </p:nvSpPr>
        <p:spPr>
          <a:xfrm>
            <a:off x="4846320" y="3913632"/>
            <a:ext cx="3749040" cy="320040"/>
          </a:xfrm>
          <a:prstGeom prst="rect">
            <a:avLst/>
          </a:prstGeom>
          <a:noFill/>
          <a:ln/>
        </p:spPr>
        <p:txBody>
          <a:bodyPr wrap="square" lIns="0" tIns="0" rIns="0" bIns="0" rtlCol="0" anchor="ctr"/>
          <a:lstStyle/>
          <a:p>
            <a:pPr marL="0" indent="0">
              <a:buNone/>
            </a:pPr>
            <a:r>
              <a:rPr lang="en-US" sz="1300" b="1" dirty="0">
                <a:solidFill>
                  <a:srgbClr val="0B2545"/>
                </a:solidFill>
              </a:rPr>
              <a:t>Flag Register</a:t>
            </a:r>
            <a:endParaRPr lang="en-US" sz="1300" dirty="0"/>
          </a:p>
        </p:txBody>
      </p:sp>
      <p:sp>
        <p:nvSpPr>
          <p:cNvPr id="26" name="Text 23"/>
          <p:cNvSpPr txBox="1"/>
          <p:nvPr/>
        </p:nvSpPr>
        <p:spPr>
          <a:xfrm>
            <a:off x="4846320" y="4251960"/>
            <a:ext cx="3749040" cy="457200"/>
          </a:xfrm>
          <a:prstGeom prst="rect">
            <a:avLst/>
          </a:prstGeom>
          <a:noFill/>
          <a:ln/>
        </p:spPr>
        <p:txBody>
          <a:bodyPr wrap="square" lIns="0" tIns="0" rIns="0" bIns="0" rtlCol="0" anchor="t"/>
          <a:lstStyle/>
          <a:p>
            <a:pPr marL="0" indent="0">
              <a:buNone/>
            </a:pPr>
            <a:r>
              <a:rPr lang="en-US" sz="1100" dirty="0">
                <a:solidFill>
                  <a:srgbClr val="1B1F2A"/>
                </a:solidFill>
              </a:rPr>
              <a:t>Zero (Z) and Carry (C) with independent write enables – logic ops update Z only</a:t>
            </a:r>
            <a:endParaRPr lang="en-US" sz="1100" dirty="0"/>
          </a:p>
        </p:txBody>
      </p:sp>
      <p:sp>
        <p:nvSpPr>
          <p:cNvPr id="3"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D99AE"/>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457200" y="109728"/>
            <a:ext cx="8229600" cy="64008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Part C – Instruction Set Architecture</a:t>
            </a:r>
            <a:endParaRPr lang="en-US" sz="2400" dirty="0"/>
          </a:p>
        </p:txBody>
      </p:sp>
      <p:sp>
        <p:nvSpPr>
          <p:cNvPr id="4" name="Shape 1"/>
          <p:cNvSpPr/>
          <p:nvPr/>
        </p:nvSpPr>
        <p:spPr>
          <a:xfrm>
            <a:off x="457200" y="1051560"/>
            <a:ext cx="2194560" cy="457200"/>
          </a:xfrm>
          <a:prstGeom prst="rect">
            <a:avLst/>
          </a:prstGeom>
          <a:solidFill>
            <a:srgbClr val="13A89E"/>
          </a:solidFill>
          <a:ln w="12700">
            <a:solidFill>
              <a:srgbClr val="FFFFFF"/>
            </a:solidFill>
            <a:prstDash val="solid"/>
          </a:ln>
        </p:spPr>
      </p:sp>
      <p:sp>
        <p:nvSpPr>
          <p:cNvPr id="5" name="Text 2"/>
          <p:cNvSpPr txBox="1"/>
          <p:nvPr/>
        </p:nvSpPr>
        <p:spPr>
          <a:xfrm>
            <a:off x="457200" y="1051560"/>
            <a:ext cx="2194560" cy="457200"/>
          </a:xfrm>
          <a:prstGeom prst="rect">
            <a:avLst/>
          </a:prstGeom>
          <a:noFill/>
          <a:ln/>
        </p:spPr>
        <p:txBody>
          <a:bodyPr wrap="square" rtlCol="0" anchor="ctr"/>
          <a:lstStyle/>
          <a:p>
            <a:pPr marL="0" indent="0" algn="ctr">
              <a:buNone/>
            </a:pPr>
            <a:r>
              <a:rPr lang="en-US" sz="1100" b="1" dirty="0">
                <a:solidFill>
                  <a:srgbClr val="FFFFFF"/>
                </a:solidFill>
              </a:rPr>
              <a:t>[11:8] Opcode  (4 bits)</a:t>
            </a:r>
            <a:endParaRPr lang="en-US" sz="1100" dirty="0"/>
          </a:p>
        </p:txBody>
      </p:sp>
      <p:sp>
        <p:nvSpPr>
          <p:cNvPr id="6" name="Shape 3"/>
          <p:cNvSpPr/>
          <p:nvPr/>
        </p:nvSpPr>
        <p:spPr>
          <a:xfrm>
            <a:off x="2651760" y="1051560"/>
            <a:ext cx="1645920" cy="457200"/>
          </a:xfrm>
          <a:prstGeom prst="rect">
            <a:avLst/>
          </a:prstGeom>
          <a:solidFill>
            <a:srgbClr val="3E7CB1"/>
          </a:solidFill>
          <a:ln w="12700">
            <a:solidFill>
              <a:srgbClr val="FFFFFF"/>
            </a:solidFill>
            <a:prstDash val="solid"/>
          </a:ln>
        </p:spPr>
      </p:sp>
      <p:sp>
        <p:nvSpPr>
          <p:cNvPr id="7" name="Text 4"/>
          <p:cNvSpPr txBox="1"/>
          <p:nvPr/>
        </p:nvSpPr>
        <p:spPr>
          <a:xfrm>
            <a:off x="2651760" y="1051560"/>
            <a:ext cx="1645920" cy="457200"/>
          </a:xfrm>
          <a:prstGeom prst="rect">
            <a:avLst/>
          </a:prstGeom>
          <a:noFill/>
          <a:ln/>
        </p:spPr>
        <p:txBody>
          <a:bodyPr wrap="square" rtlCol="0" anchor="ctr"/>
          <a:lstStyle/>
          <a:p>
            <a:pPr marL="0" indent="0" algn="ctr">
              <a:buNone/>
            </a:pPr>
            <a:r>
              <a:rPr lang="en-US" sz="1100" b="1" dirty="0">
                <a:solidFill>
                  <a:srgbClr val="FFFFFF"/>
                </a:solidFill>
              </a:rPr>
              <a:t>[7:6] Rd  (2 bits)</a:t>
            </a:r>
            <a:endParaRPr lang="en-US" sz="1100" dirty="0"/>
          </a:p>
        </p:txBody>
      </p:sp>
      <p:sp>
        <p:nvSpPr>
          <p:cNvPr id="8" name="Shape 5"/>
          <p:cNvSpPr/>
          <p:nvPr/>
        </p:nvSpPr>
        <p:spPr>
          <a:xfrm>
            <a:off x="4297680" y="1051560"/>
            <a:ext cx="1645920" cy="457200"/>
          </a:xfrm>
          <a:prstGeom prst="rect">
            <a:avLst/>
          </a:prstGeom>
          <a:solidFill>
            <a:srgbClr val="F28C28"/>
          </a:solidFill>
          <a:ln w="12700">
            <a:solidFill>
              <a:srgbClr val="FFFFFF"/>
            </a:solidFill>
            <a:prstDash val="solid"/>
          </a:ln>
        </p:spPr>
      </p:sp>
      <p:sp>
        <p:nvSpPr>
          <p:cNvPr id="9" name="Text 6"/>
          <p:cNvSpPr txBox="1"/>
          <p:nvPr/>
        </p:nvSpPr>
        <p:spPr>
          <a:xfrm>
            <a:off x="4297680" y="1051560"/>
            <a:ext cx="1645920" cy="457200"/>
          </a:xfrm>
          <a:prstGeom prst="rect">
            <a:avLst/>
          </a:prstGeom>
          <a:noFill/>
          <a:ln/>
        </p:spPr>
        <p:txBody>
          <a:bodyPr wrap="square" rtlCol="0" anchor="ctr"/>
          <a:lstStyle/>
          <a:p>
            <a:pPr marL="0" indent="0" algn="ctr">
              <a:buNone/>
            </a:pPr>
            <a:r>
              <a:rPr lang="en-US" sz="1100" b="1" dirty="0">
                <a:solidFill>
                  <a:srgbClr val="FFFFFF"/>
                </a:solidFill>
              </a:rPr>
              <a:t>[5:4] Rs  (2 bits)</a:t>
            </a:r>
            <a:endParaRPr lang="en-US" sz="1100" dirty="0"/>
          </a:p>
        </p:txBody>
      </p:sp>
      <p:sp>
        <p:nvSpPr>
          <p:cNvPr id="10" name="Shape 7"/>
          <p:cNvSpPr/>
          <p:nvPr/>
        </p:nvSpPr>
        <p:spPr>
          <a:xfrm>
            <a:off x="5943600" y="1051560"/>
            <a:ext cx="2743200" cy="457200"/>
          </a:xfrm>
          <a:prstGeom prst="rect">
            <a:avLst/>
          </a:prstGeom>
          <a:solidFill>
            <a:srgbClr val="6A4C93"/>
          </a:solidFill>
          <a:ln w="12700">
            <a:solidFill>
              <a:srgbClr val="FFFFFF"/>
            </a:solidFill>
            <a:prstDash val="solid"/>
          </a:ln>
        </p:spPr>
      </p:sp>
      <p:sp>
        <p:nvSpPr>
          <p:cNvPr id="11" name="Text 8"/>
          <p:cNvSpPr txBox="1"/>
          <p:nvPr/>
        </p:nvSpPr>
        <p:spPr>
          <a:xfrm>
            <a:off x="5943600" y="1051560"/>
            <a:ext cx="2743200" cy="457200"/>
          </a:xfrm>
          <a:prstGeom prst="rect">
            <a:avLst/>
          </a:prstGeom>
          <a:noFill/>
          <a:ln/>
        </p:spPr>
        <p:txBody>
          <a:bodyPr wrap="square" rtlCol="0" anchor="ctr"/>
          <a:lstStyle/>
          <a:p>
            <a:pPr marL="0" indent="0" algn="ctr">
              <a:buNone/>
            </a:pPr>
            <a:r>
              <a:rPr lang="en-US" sz="1100" b="1" dirty="0">
                <a:solidFill>
                  <a:srgbClr val="FFFFFF"/>
                </a:solidFill>
              </a:rPr>
              <a:t>[3:0] imm / addr  (4 bits)</a:t>
            </a:r>
            <a:endParaRPr lang="en-US" sz="11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8229600" cy="914400"/>
        </p:xfrm>
        <a:graphic>
          <a:graphicData uri="http://schemas.openxmlformats.org/drawingml/2006/table">
            <a:tbl>
              <a:tblPr/>
              <a:tblGrid>
                <a:gridCol w="109728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219456">
                <a:tc>
                  <a:txBody>
                    <a:bodyPr/>
                    <a:lstStyle/>
                    <a:p>
                      <a:pPr marL="0" indent="0" algn="ctr">
                        <a:buNone/>
                      </a:pPr>
                      <a:r>
                        <a:rPr lang="en-US" sz="1000" b="1" dirty="0">
                          <a:solidFill>
                            <a:srgbClr val="FFFFFF"/>
                          </a:solidFill>
                        </a:rPr>
                        <a:t>Opcode</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0B2545"/>
                    </a:solidFill>
                  </a:tcPr>
                </a:tc>
                <a:tc>
                  <a:txBody>
                    <a:bodyPr/>
                    <a:lstStyle/>
                    <a:p>
                      <a:pPr marL="0" indent="0" algn="ctr">
                        <a:buNone/>
                      </a:pPr>
                      <a:r>
                        <a:rPr lang="en-US" sz="1000" b="1" dirty="0">
                          <a:solidFill>
                            <a:srgbClr val="FFFFFF"/>
                          </a:solidFill>
                        </a:rPr>
                        <a:t>Mnemonic</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0B2545"/>
                    </a:solidFill>
                  </a:tcPr>
                </a:tc>
                <a:tc>
                  <a:txBody>
                    <a:bodyPr/>
                    <a:lstStyle/>
                    <a:p>
                      <a:pPr marL="0" indent="0" algn="ctr">
                        <a:buNone/>
                      </a:pPr>
                      <a:r>
                        <a:rPr lang="en-US" sz="1000" b="1" dirty="0">
                          <a:solidFill>
                            <a:srgbClr val="FFFFFF"/>
                          </a:solidFill>
                        </a:rPr>
                        <a:t>Operation</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0B2545"/>
                    </a:solidFill>
                  </a:tcPr>
                </a:tc>
                <a:tc>
                  <a:txBody>
                    <a:bodyPr/>
                    <a:lstStyle/>
                    <a:p>
                      <a:pPr marL="0" indent="0" algn="ctr">
                        <a:buNone/>
                      </a:pPr>
                      <a:r>
                        <a:rPr lang="en-US" sz="1000" b="1" dirty="0">
                          <a:solidFill>
                            <a:srgbClr val="FFFFFF"/>
                          </a:solidFill>
                        </a:rPr>
                        <a:t>Flags</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219456">
                <a:tc>
                  <a:txBody>
                    <a:bodyPr/>
                    <a:lstStyle/>
                    <a:p>
                      <a:pPr marL="0" indent="0" algn="ctr">
                        <a:buNone/>
                      </a:pPr>
                      <a:r>
                        <a:rPr lang="en-US" sz="1000" dirty="0">
                          <a:solidFill>
                            <a:srgbClr val="1B1F2A"/>
                          </a:solidFill>
                        </a:rPr>
                        <a:t>0000</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2A"/>
                          </a:solidFill>
                        </a:rPr>
                        <a:t>ADD</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1F2A"/>
                          </a:solidFill>
                        </a:rPr>
                        <a:t>Rd ← Rd + Rs</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2A"/>
                          </a:solidFill>
                        </a:rPr>
                        <a:t>Z, C</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lgn="ctr">
                        <a:buNone/>
                      </a:pPr>
                      <a:r>
                        <a:rPr lang="en-US" sz="1000" dirty="0">
                          <a:solidFill>
                            <a:srgbClr val="1B1F2A"/>
                          </a:solidFill>
                        </a:rPr>
                        <a:t>0001</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2A"/>
                          </a:solidFill>
                        </a:rPr>
                        <a:t>SUB</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1F2A"/>
                          </a:solidFill>
                        </a:rPr>
                        <a:t>Rd ← Rd − Rs (C = no-borrow)</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2A"/>
                          </a:solidFill>
                        </a:rPr>
                        <a:t>Z, C</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19456">
                <a:tc>
                  <a:txBody>
                    <a:bodyPr/>
                    <a:lstStyle/>
                    <a:p>
                      <a:pPr marL="0" indent="0" algn="ctr">
                        <a:buNone/>
                      </a:pPr>
                      <a:r>
                        <a:rPr lang="en-US" sz="1000" dirty="0">
                          <a:solidFill>
                            <a:srgbClr val="1B1F2A"/>
                          </a:solidFill>
                        </a:rPr>
                        <a:t>0010</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2A"/>
                          </a:solidFill>
                        </a:rPr>
                        <a:t>AND</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1F2A"/>
                          </a:solidFill>
                        </a:rPr>
                        <a:t>Rd ← Rd &amp; Rs</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2A"/>
                          </a:solidFill>
                        </a:rPr>
                        <a:t>Z</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19456">
                <a:tc>
                  <a:txBody>
                    <a:bodyPr/>
                    <a:lstStyle/>
                    <a:p>
                      <a:pPr marL="0" indent="0" algn="ctr">
                        <a:buNone/>
                      </a:pPr>
                      <a:r>
                        <a:rPr lang="en-US" sz="1000" dirty="0">
                          <a:solidFill>
                            <a:srgbClr val="1B1F2A"/>
                          </a:solidFill>
                        </a:rPr>
                        <a:t>0011</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2A"/>
                          </a:solidFill>
                        </a:rPr>
                        <a:t>OR</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1F2A"/>
                          </a:solidFill>
                        </a:rPr>
                        <a:t>Rd ← Rd | Rs</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2A"/>
                          </a:solidFill>
                        </a:rPr>
                        <a:t>Z</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19456">
                <a:tc>
                  <a:txBody>
                    <a:bodyPr/>
                    <a:lstStyle/>
                    <a:p>
                      <a:pPr marL="0" indent="0" algn="ctr">
                        <a:buNone/>
                      </a:pPr>
                      <a:r>
                        <a:rPr lang="en-US" sz="1000" dirty="0">
                          <a:solidFill>
                            <a:srgbClr val="1B1F2A"/>
                          </a:solidFill>
                        </a:rPr>
                        <a:t>0100</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2A"/>
                          </a:solidFill>
                        </a:rPr>
                        <a:t>XOR</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1F2A"/>
                          </a:solidFill>
                        </a:rPr>
                        <a:t>Rd ← Rd ^ Rs</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2A"/>
                          </a:solidFill>
                        </a:rPr>
                        <a:t>Z</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19456">
                <a:tc>
                  <a:txBody>
                    <a:bodyPr/>
                    <a:lstStyle/>
                    <a:p>
                      <a:pPr marL="0" indent="0" algn="ctr">
                        <a:buNone/>
                      </a:pPr>
                      <a:r>
                        <a:rPr lang="en-US" sz="1000" dirty="0">
                          <a:solidFill>
                            <a:srgbClr val="1B1F2A"/>
                          </a:solidFill>
                        </a:rPr>
                        <a:t>0101</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2A"/>
                          </a:solidFill>
                        </a:rPr>
                        <a:t>NOT</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1F2A"/>
                          </a:solidFill>
                        </a:rPr>
                        <a:t>Rd ← ~Rd</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2A"/>
                          </a:solidFill>
                        </a:rPr>
                        <a:t>Z</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19456">
                <a:tc>
                  <a:txBody>
                    <a:bodyPr/>
                    <a:lstStyle/>
                    <a:p>
                      <a:pPr marL="0" indent="0" algn="ctr">
                        <a:buNone/>
                      </a:pPr>
                      <a:r>
                        <a:rPr lang="en-US" sz="1000" dirty="0">
                          <a:solidFill>
                            <a:srgbClr val="1B1F2A"/>
                          </a:solidFill>
                        </a:rPr>
                        <a:t>0110</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2A"/>
                          </a:solidFill>
                        </a:rPr>
                        <a:t>LDI</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1F2A"/>
                          </a:solidFill>
                        </a:rPr>
                        <a:t>Rd ← imm[3:0]</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2A"/>
                          </a:solidFill>
                        </a:rPr>
                        <a:t>–</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19456">
                <a:tc>
                  <a:txBody>
                    <a:bodyPr/>
                    <a:lstStyle/>
                    <a:p>
                      <a:pPr marL="0" indent="0" algn="ctr">
                        <a:buNone/>
                      </a:pPr>
                      <a:r>
                        <a:rPr lang="en-US" sz="1000" dirty="0">
                          <a:solidFill>
                            <a:srgbClr val="1B1F2A"/>
                          </a:solidFill>
                        </a:rPr>
                        <a:t>0111</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2A"/>
                          </a:solidFill>
                        </a:rPr>
                        <a:t>MOV</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1F2A"/>
                          </a:solidFill>
                        </a:rPr>
                        <a:t>Rd ← Rs</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2A"/>
                          </a:solidFill>
                        </a:rPr>
                        <a:t>–</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19456">
                <a:tc>
                  <a:txBody>
                    <a:bodyPr/>
                    <a:lstStyle/>
                    <a:p>
                      <a:pPr marL="0" indent="0" algn="ctr">
                        <a:buNone/>
                      </a:pPr>
                      <a:r>
                        <a:rPr lang="en-US" sz="1000" dirty="0">
                          <a:solidFill>
                            <a:srgbClr val="1B1F2A"/>
                          </a:solidFill>
                        </a:rPr>
                        <a:t>1000</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2A"/>
                          </a:solidFill>
                        </a:rPr>
                        <a:t>LOAD</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1F2A"/>
                          </a:solidFill>
                        </a:rPr>
                        <a:t>Rd ← DMEM[addr]</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2A"/>
                          </a:solidFill>
                        </a:rPr>
                        <a:t>–</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19456">
                <a:tc>
                  <a:txBody>
                    <a:bodyPr/>
                    <a:lstStyle/>
                    <a:p>
                      <a:pPr marL="0" indent="0" algn="ctr">
                        <a:buNone/>
                      </a:pPr>
                      <a:r>
                        <a:rPr lang="en-US" sz="1000" dirty="0">
                          <a:solidFill>
                            <a:srgbClr val="1B1F2A"/>
                          </a:solidFill>
                        </a:rPr>
                        <a:t>1001</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2A"/>
                          </a:solidFill>
                        </a:rPr>
                        <a:t>STORE</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1F2A"/>
                          </a:solidFill>
                        </a:rPr>
                        <a:t>DMEM[addr] ← Rd</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2A"/>
                          </a:solidFill>
                        </a:rPr>
                        <a:t>–</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19456">
                <a:tc>
                  <a:txBody>
                    <a:bodyPr/>
                    <a:lstStyle/>
                    <a:p>
                      <a:pPr marL="0" indent="0" algn="ctr">
                        <a:buNone/>
                      </a:pPr>
                      <a:r>
                        <a:rPr lang="en-US" sz="1000" dirty="0">
                          <a:solidFill>
                            <a:srgbClr val="1B1F2A"/>
                          </a:solidFill>
                        </a:rPr>
                        <a:t>1010</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2A"/>
                          </a:solidFill>
                        </a:rPr>
                        <a:t>JMP</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1F2A"/>
                          </a:solidFill>
                        </a:rPr>
                        <a:t>PC ← addr</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2A"/>
                          </a:solidFill>
                        </a:rPr>
                        <a:t>–</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19456">
                <a:tc>
                  <a:txBody>
                    <a:bodyPr/>
                    <a:lstStyle/>
                    <a:p>
                      <a:pPr marL="0" indent="0" algn="ctr">
                        <a:buNone/>
                      </a:pPr>
                      <a:r>
                        <a:rPr lang="en-US" sz="1000" dirty="0">
                          <a:solidFill>
                            <a:srgbClr val="1B1F2A"/>
                          </a:solidFill>
                        </a:rPr>
                        <a:t>1011</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2A"/>
                          </a:solidFill>
                        </a:rPr>
                        <a:t>JZ</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1F2A"/>
                          </a:solidFill>
                        </a:rPr>
                        <a:t>If Z = 1: PC ← addr</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2A"/>
                          </a:solidFill>
                        </a:rPr>
                        <a:t>–</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219456">
                <a:tc>
                  <a:txBody>
                    <a:bodyPr/>
                    <a:lstStyle/>
                    <a:p>
                      <a:pPr marL="0" indent="0" algn="ctr">
                        <a:buNone/>
                      </a:pPr>
                      <a:r>
                        <a:rPr lang="en-US" sz="1000" dirty="0">
                          <a:solidFill>
                            <a:srgbClr val="1B1F2A"/>
                          </a:solidFill>
                        </a:rPr>
                        <a:t>11xx</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2A"/>
                          </a:solidFill>
                        </a:rPr>
                        <a:t>NOP</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1F2A"/>
                          </a:solidFill>
                        </a:rPr>
                        <a:t>No operation (reserved)</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2A"/>
                          </a:solidFill>
                        </a:rPr>
                        <a:t>–</a:t>
                      </a:r>
                      <a:endParaRPr lang="en-US" sz="1000" dirty="0"/>
                    </a:p>
                  </a:txBody>
                  <a:tcPr marL="73152" marR="73152" marT="0" marB="0">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bl>
          </a:graphicData>
        </a:graphic>
      </p:graphicFrame>
      <p:sp>
        <p:nvSpPr>
          <p:cNvPr id="13" name="Text 9"/>
          <p:cNvSpPr txBox="1"/>
          <p:nvPr/>
        </p:nvSpPr>
        <p:spPr>
          <a:xfrm>
            <a:off x="457200" y="4663440"/>
            <a:ext cx="7315200" cy="274320"/>
          </a:xfrm>
          <a:prstGeom prst="rect">
            <a:avLst/>
          </a:prstGeom>
          <a:noFill/>
          <a:ln/>
        </p:spPr>
        <p:txBody>
          <a:bodyPr wrap="square" lIns="0" tIns="0" rIns="0" bIns="0" rtlCol="0" anchor="ctr"/>
          <a:lstStyle/>
          <a:p>
            <a:pPr marL="0" indent="0">
              <a:buNone/>
            </a:pPr>
            <a:r>
              <a:rPr lang="en-US" sz="1100" i="1" dirty="0">
                <a:solidFill>
                  <a:srgbClr val="3E7CB1"/>
                </a:solidFill>
              </a:rPr>
              <a:t>Registers: R0 = 00 · R1 = 01 · R2 = 10 · R3 = 11</a:t>
            </a:r>
            <a:endParaRPr lang="en-US" sz="11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D99AE"/>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457200" y="109728"/>
            <a:ext cx="8229600" cy="64008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Control Unit Decoder Truth Table</a:t>
            </a:r>
            <a:endParaRPr lang="en-US" sz="2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10058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gridCol w="640080">
                  <a:extLst>
                    <a:ext uri="{9D8B030D-6E8A-4147-A177-3AD203B41FA5}">
                      <a16:colId xmlns:a16="http://schemas.microsoft.com/office/drawing/2014/main" val="20005"/>
                    </a:ext>
                  </a:extLst>
                </a:gridCol>
                <a:gridCol w="685800">
                  <a:extLst>
                    <a:ext uri="{9D8B030D-6E8A-4147-A177-3AD203B41FA5}">
                      <a16:colId xmlns:a16="http://schemas.microsoft.com/office/drawing/2014/main" val="20006"/>
                    </a:ext>
                  </a:extLst>
                </a:gridCol>
                <a:gridCol w="548640">
                  <a:extLst>
                    <a:ext uri="{9D8B030D-6E8A-4147-A177-3AD203B41FA5}">
                      <a16:colId xmlns:a16="http://schemas.microsoft.com/office/drawing/2014/main" val="20007"/>
                    </a:ext>
                  </a:extLst>
                </a:gridCol>
                <a:gridCol w="548640">
                  <a:extLst>
                    <a:ext uri="{9D8B030D-6E8A-4147-A177-3AD203B41FA5}">
                      <a16:colId xmlns:a16="http://schemas.microsoft.com/office/drawing/2014/main" val="20008"/>
                    </a:ext>
                  </a:extLst>
                </a:gridCol>
                <a:gridCol w="640080">
                  <a:extLst>
                    <a:ext uri="{9D8B030D-6E8A-4147-A177-3AD203B41FA5}">
                      <a16:colId xmlns:a16="http://schemas.microsoft.com/office/drawing/2014/main" val="20009"/>
                    </a:ext>
                  </a:extLst>
                </a:gridCol>
                <a:gridCol w="685800">
                  <a:extLst>
                    <a:ext uri="{9D8B030D-6E8A-4147-A177-3AD203B41FA5}">
                      <a16:colId xmlns:a16="http://schemas.microsoft.com/office/drawing/2014/main" val="20010"/>
                    </a:ext>
                  </a:extLst>
                </a:gridCol>
              </a:tblGrid>
              <a:tr h="274320">
                <a:tc>
                  <a:txBody>
                    <a:bodyPr/>
                    <a:lstStyle/>
                    <a:p>
                      <a:pPr marL="0" indent="0" algn="ctr">
                        <a:buNone/>
                      </a:pPr>
                      <a:r>
                        <a:rPr lang="en-US" sz="1000" b="1" dirty="0">
                          <a:solidFill>
                            <a:srgbClr val="FFFFFF"/>
                          </a:solidFill>
                        </a:rPr>
                        <a:t>Opcode</a:t>
                      </a:r>
                      <a:endParaRPr lang="en-US" sz="10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0B2545"/>
                    </a:solidFill>
                  </a:tcPr>
                </a:tc>
                <a:tc>
                  <a:txBody>
                    <a:bodyPr/>
                    <a:lstStyle/>
                    <a:p>
                      <a:pPr marL="0" indent="0" algn="ctr">
                        <a:buNone/>
                      </a:pPr>
                      <a:r>
                        <a:rPr lang="en-US" sz="1000" b="1" dirty="0">
                          <a:solidFill>
                            <a:srgbClr val="FFFFFF"/>
                          </a:solidFill>
                        </a:rPr>
                        <a:t>Instr</a:t>
                      </a:r>
                      <a:endParaRPr lang="en-US" sz="10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0B2545"/>
                    </a:solidFill>
                  </a:tcPr>
                </a:tc>
                <a:tc>
                  <a:txBody>
                    <a:bodyPr/>
                    <a:lstStyle/>
                    <a:p>
                      <a:pPr marL="0" indent="0" algn="ctr">
                        <a:buNone/>
                      </a:pPr>
                      <a:r>
                        <a:rPr lang="en-US" sz="1000" b="1" dirty="0">
                          <a:solidFill>
                            <a:srgbClr val="FFFFFF"/>
                          </a:solidFill>
                        </a:rPr>
                        <a:t>alu_ctrl</a:t>
                      </a:r>
                      <a:endParaRPr lang="en-US" sz="10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0B2545"/>
                    </a:solidFill>
                  </a:tcPr>
                </a:tc>
                <a:tc>
                  <a:txBody>
                    <a:bodyPr/>
                    <a:lstStyle/>
                    <a:p>
                      <a:pPr marL="0" indent="0" algn="ctr">
                        <a:buNone/>
                      </a:pPr>
                      <a:r>
                        <a:rPr lang="en-US" sz="1000" b="1" dirty="0">
                          <a:solidFill>
                            <a:srgbClr val="FFFFFF"/>
                          </a:solidFill>
                        </a:rPr>
                        <a:t>alu_src</a:t>
                      </a:r>
                      <a:endParaRPr lang="en-US" sz="10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0B2545"/>
                    </a:solidFill>
                  </a:tcPr>
                </a:tc>
                <a:tc>
                  <a:txBody>
                    <a:bodyPr/>
                    <a:lstStyle/>
                    <a:p>
                      <a:pPr marL="0" indent="0" algn="ctr">
                        <a:buNone/>
                      </a:pPr>
                      <a:r>
                        <a:rPr lang="en-US" sz="1000" b="1" dirty="0">
                          <a:solidFill>
                            <a:srgbClr val="FFFFFF"/>
                          </a:solidFill>
                        </a:rPr>
                        <a:t>wb_sel</a:t>
                      </a:r>
                      <a:endParaRPr lang="en-US" sz="10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0B2545"/>
                    </a:solidFill>
                  </a:tcPr>
                </a:tc>
                <a:tc>
                  <a:txBody>
                    <a:bodyPr/>
                    <a:lstStyle/>
                    <a:p>
                      <a:pPr marL="0" indent="0" algn="ctr">
                        <a:buNone/>
                      </a:pPr>
                      <a:r>
                        <a:rPr lang="en-US" sz="1000" b="1" dirty="0">
                          <a:solidFill>
                            <a:srgbClr val="FFFFFF"/>
                          </a:solidFill>
                        </a:rPr>
                        <a:t>reg_we</a:t>
                      </a:r>
                      <a:endParaRPr lang="en-US" sz="10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0B2545"/>
                    </a:solidFill>
                  </a:tcPr>
                </a:tc>
                <a:tc>
                  <a:txBody>
                    <a:bodyPr/>
                    <a:lstStyle/>
                    <a:p>
                      <a:pPr marL="0" indent="0" algn="ctr">
                        <a:buNone/>
                      </a:pPr>
                      <a:r>
                        <a:rPr lang="en-US" sz="1000" b="1" dirty="0">
                          <a:solidFill>
                            <a:srgbClr val="FFFFFF"/>
                          </a:solidFill>
                        </a:rPr>
                        <a:t>mem_we</a:t>
                      </a:r>
                      <a:endParaRPr lang="en-US" sz="10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0B2545"/>
                    </a:solidFill>
                  </a:tcPr>
                </a:tc>
                <a:tc>
                  <a:txBody>
                    <a:bodyPr/>
                    <a:lstStyle/>
                    <a:p>
                      <a:pPr marL="0" indent="0" algn="ctr">
                        <a:buNone/>
                      </a:pPr>
                      <a:r>
                        <a:rPr lang="en-US" sz="1000" b="1" dirty="0">
                          <a:solidFill>
                            <a:srgbClr val="FFFFFF"/>
                          </a:solidFill>
                        </a:rPr>
                        <a:t>z_we</a:t>
                      </a:r>
                      <a:endParaRPr lang="en-US" sz="10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0B2545"/>
                    </a:solidFill>
                  </a:tcPr>
                </a:tc>
                <a:tc>
                  <a:txBody>
                    <a:bodyPr/>
                    <a:lstStyle/>
                    <a:p>
                      <a:pPr marL="0" indent="0" algn="ctr">
                        <a:buNone/>
                      </a:pPr>
                      <a:r>
                        <a:rPr lang="en-US" sz="1000" b="1" dirty="0">
                          <a:solidFill>
                            <a:srgbClr val="FFFFFF"/>
                          </a:solidFill>
                        </a:rPr>
                        <a:t>c_we</a:t>
                      </a:r>
                      <a:endParaRPr lang="en-US" sz="10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0B2545"/>
                    </a:solidFill>
                  </a:tcPr>
                </a:tc>
                <a:tc>
                  <a:txBody>
                    <a:bodyPr/>
                    <a:lstStyle/>
                    <a:p>
                      <a:pPr marL="0" indent="0" algn="ctr">
                        <a:buNone/>
                      </a:pPr>
                      <a:r>
                        <a:rPr lang="en-US" sz="1000" b="1" dirty="0">
                          <a:solidFill>
                            <a:srgbClr val="FFFFFF"/>
                          </a:solidFill>
                        </a:rPr>
                        <a:t>is_jmp</a:t>
                      </a:r>
                      <a:endParaRPr lang="en-US" sz="10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0B2545"/>
                    </a:solidFill>
                  </a:tcPr>
                </a:tc>
                <a:tc>
                  <a:txBody>
                    <a:bodyPr/>
                    <a:lstStyle/>
                    <a:p>
                      <a:pPr marL="0" indent="0" algn="ctr">
                        <a:buNone/>
                      </a:pPr>
                      <a:r>
                        <a:rPr lang="en-US" sz="1000" b="1" dirty="0">
                          <a:solidFill>
                            <a:srgbClr val="FFFFFF"/>
                          </a:solidFill>
                        </a:rPr>
                        <a:t>is_jz</a:t>
                      </a:r>
                      <a:endParaRPr lang="en-US" sz="10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274320">
                <a:tc>
                  <a:txBody>
                    <a:bodyPr/>
                    <a:lstStyle/>
                    <a:p>
                      <a:pPr marL="0" indent="0" algn="ctr">
                        <a:buNone/>
                      </a:pPr>
                      <a:r>
                        <a:rPr lang="en-US" sz="1100" dirty="0">
                          <a:solidFill>
                            <a:srgbClr val="1B1F2A"/>
                          </a:solidFill>
                        </a:rPr>
                        <a:t>0000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ADD</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000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1</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1</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1</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lgn="ctr">
                        <a:buNone/>
                      </a:pPr>
                      <a:r>
                        <a:rPr lang="en-US" sz="1100" dirty="0">
                          <a:solidFill>
                            <a:srgbClr val="1B1F2A"/>
                          </a:solidFill>
                        </a:rPr>
                        <a:t>0001</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SUB</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001</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1</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1</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1</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ctr">
                        <a:buNone/>
                      </a:pPr>
                      <a:r>
                        <a:rPr lang="en-US" sz="1100" dirty="0">
                          <a:solidFill>
                            <a:srgbClr val="1B1F2A"/>
                          </a:solidFill>
                        </a:rPr>
                        <a:t>0010–0101</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AND/OR/XOR/NOT</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010–101</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1</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1</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lgn="ctr">
                        <a:buNone/>
                      </a:pPr>
                      <a:r>
                        <a:rPr lang="en-US" sz="1100" dirty="0">
                          <a:solidFill>
                            <a:srgbClr val="1B1F2A"/>
                          </a:solidFill>
                        </a:rPr>
                        <a:t>0110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LDI</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110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1</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1</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74320">
                <a:tc>
                  <a:txBody>
                    <a:bodyPr/>
                    <a:lstStyle/>
                    <a:p>
                      <a:pPr marL="0" indent="0" algn="ctr">
                        <a:buNone/>
                      </a:pPr>
                      <a:r>
                        <a:rPr lang="en-US" sz="1100" dirty="0">
                          <a:solidFill>
                            <a:srgbClr val="1B1F2A"/>
                          </a:solidFill>
                        </a:rPr>
                        <a:t>0111</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MOV</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110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1</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74320">
                <a:tc>
                  <a:txBody>
                    <a:bodyPr/>
                    <a:lstStyle/>
                    <a:p>
                      <a:pPr marL="0" indent="0" algn="ctr">
                        <a:buNone/>
                      </a:pPr>
                      <a:r>
                        <a:rPr lang="en-US" sz="1100" dirty="0">
                          <a:solidFill>
                            <a:srgbClr val="1B1F2A"/>
                          </a:solidFill>
                        </a:rPr>
                        <a:t>1000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LOAD</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110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1</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1</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1</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74320">
                <a:tc>
                  <a:txBody>
                    <a:bodyPr/>
                    <a:lstStyle/>
                    <a:p>
                      <a:pPr marL="0" indent="0" algn="ctr">
                        <a:buNone/>
                      </a:pPr>
                      <a:r>
                        <a:rPr lang="en-US" sz="1100" dirty="0">
                          <a:solidFill>
                            <a:srgbClr val="1B1F2A"/>
                          </a:solidFill>
                        </a:rPr>
                        <a:t>1001</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STORE</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110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1</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1</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74320">
                <a:tc>
                  <a:txBody>
                    <a:bodyPr/>
                    <a:lstStyle/>
                    <a:p>
                      <a:pPr marL="0" indent="0" algn="ctr">
                        <a:buNone/>
                      </a:pPr>
                      <a:r>
                        <a:rPr lang="en-US" sz="1100" dirty="0">
                          <a:solidFill>
                            <a:srgbClr val="1B1F2A"/>
                          </a:solidFill>
                        </a:rPr>
                        <a:t>1010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JMP</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000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1</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74320">
                <a:tc>
                  <a:txBody>
                    <a:bodyPr/>
                    <a:lstStyle/>
                    <a:p>
                      <a:pPr marL="0" indent="0" algn="ctr">
                        <a:buNone/>
                      </a:pPr>
                      <a:r>
                        <a:rPr lang="en-US" sz="1100" dirty="0">
                          <a:solidFill>
                            <a:srgbClr val="1B1F2A"/>
                          </a:solidFill>
                        </a:rPr>
                        <a:t>1011</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JZ</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000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1</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74320">
                <a:tc>
                  <a:txBody>
                    <a:bodyPr/>
                    <a:lstStyle/>
                    <a:p>
                      <a:pPr marL="0" indent="0" algn="ctr">
                        <a:buNone/>
                      </a:pPr>
                      <a:r>
                        <a:rPr lang="en-US" sz="1100" dirty="0">
                          <a:solidFill>
                            <a:srgbClr val="1B1F2A"/>
                          </a:solidFill>
                        </a:rPr>
                        <a:t>1100–1111</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NOP</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000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5" name="Text 1"/>
          <p:cNvSpPr txBox="1"/>
          <p:nvPr/>
        </p:nvSpPr>
        <p:spPr>
          <a:xfrm>
            <a:off x="457200" y="4297680"/>
            <a:ext cx="8229600" cy="365760"/>
          </a:xfrm>
          <a:prstGeom prst="rect">
            <a:avLst/>
          </a:prstGeom>
          <a:noFill/>
          <a:ln/>
        </p:spPr>
        <p:txBody>
          <a:bodyPr wrap="square" lIns="0" tIns="0" rIns="0" bIns="0" rtlCol="0" anchor="ctr"/>
          <a:lstStyle/>
          <a:p>
            <a:pPr marL="0" indent="0">
              <a:buNone/>
            </a:pPr>
            <a:r>
              <a:rPr lang="en-US" sz="1300" b="1" dirty="0">
                <a:solidFill>
                  <a:srgbClr val="0B2545"/>
                </a:solidFill>
              </a:rPr>
              <a:t>Branch unit (EX): pc_sel = is_jmp OR (is_jz AND Zero);  flush = pc_sel  →  2 bubbles inserted</a:t>
            </a:r>
            <a:endParaRPr lang="en-US" sz="13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D99AE"/>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457200" y="109728"/>
            <a:ext cx="8229600" cy="64008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Step-by-Step Execution Trace</a:t>
            </a:r>
            <a:endParaRPr lang="en-US" sz="2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5120640" cy="914400"/>
        </p:xfrm>
        <a:graphic>
          <a:graphicData uri="http://schemas.openxmlformats.org/drawingml/2006/table">
            <a:tbl>
              <a:tblPr/>
              <a:tblGrid>
                <a:gridCol w="155448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347472">
                <a:tc>
                  <a:txBody>
                    <a:bodyPr/>
                    <a:lstStyle/>
                    <a:p>
                      <a:pPr marL="0" indent="0" algn="ctr">
                        <a:buNone/>
                      </a:pPr>
                      <a:r>
                        <a:rPr lang="en-US" sz="1000" b="1" dirty="0">
                          <a:solidFill>
                            <a:srgbClr val="FFFFFF"/>
                          </a:solidFill>
                        </a:rPr>
                        <a:t>Instruction</a:t>
                      </a:r>
                      <a:endParaRPr lang="en-US" sz="10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0B2545"/>
                    </a:solidFill>
                  </a:tcPr>
                </a:tc>
                <a:tc>
                  <a:txBody>
                    <a:bodyPr/>
                    <a:lstStyle/>
                    <a:p>
                      <a:pPr marL="0" indent="0" algn="ctr">
                        <a:buNone/>
                      </a:pPr>
                      <a:r>
                        <a:rPr lang="en-US" sz="1000" b="1" dirty="0">
                          <a:solidFill>
                            <a:srgbClr val="FFFFFF"/>
                          </a:solidFill>
                        </a:rPr>
                        <a:t>Hex</a:t>
                      </a:r>
                      <a:endParaRPr lang="en-US" sz="10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0B2545"/>
                    </a:solidFill>
                  </a:tcPr>
                </a:tc>
                <a:tc>
                  <a:txBody>
                    <a:bodyPr/>
                    <a:lstStyle/>
                    <a:p>
                      <a:pPr marL="0" indent="0" algn="ctr">
                        <a:buNone/>
                      </a:pPr>
                      <a:r>
                        <a:rPr lang="en-US" sz="1000" b="1" dirty="0">
                          <a:solidFill>
                            <a:srgbClr val="FFFFFF"/>
                          </a:solidFill>
                        </a:rPr>
                        <a:t>Result</a:t>
                      </a:r>
                      <a:endParaRPr lang="en-US" sz="10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0B2545"/>
                    </a:solidFill>
                  </a:tcPr>
                </a:tc>
                <a:tc>
                  <a:txBody>
                    <a:bodyPr/>
                    <a:lstStyle/>
                    <a:p>
                      <a:pPr marL="0" indent="0" algn="ctr">
                        <a:buNone/>
                      </a:pPr>
                      <a:r>
                        <a:rPr lang="en-US" sz="1000" b="1" dirty="0">
                          <a:solidFill>
                            <a:srgbClr val="FFFFFF"/>
                          </a:solidFill>
                        </a:rPr>
                        <a:t>Flags</a:t>
                      </a:r>
                      <a:endParaRPr lang="en-US" sz="10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347472">
                <a:tc>
                  <a:txBody>
                    <a:bodyPr/>
                    <a:lstStyle/>
                    <a:p>
                      <a:pPr marL="0" indent="0" algn="ctr">
                        <a:buNone/>
                      </a:pPr>
                      <a:r>
                        <a:rPr lang="en-US" sz="1200" dirty="0">
                          <a:solidFill>
                            <a:srgbClr val="1B1F2A"/>
                          </a:solidFill>
                        </a:rPr>
                        <a:t>LDI R1, 5</a:t>
                      </a:r>
                      <a:endParaRPr lang="en-US" sz="12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1F2A"/>
                          </a:solidFill>
                        </a:rPr>
                        <a:t>0x645</a:t>
                      </a:r>
                      <a:endParaRPr lang="en-US" sz="12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1F2A"/>
                          </a:solidFill>
                        </a:rPr>
                        <a:t>R1 = 5</a:t>
                      </a:r>
                      <a:endParaRPr lang="en-US" sz="12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1F2A"/>
                          </a:solidFill>
                        </a:rPr>
                        <a:t>–</a:t>
                      </a:r>
                      <a:endParaRPr lang="en-US" sz="12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lgn="ctr">
                        <a:buNone/>
                      </a:pPr>
                      <a:r>
                        <a:rPr lang="en-US" sz="1200" dirty="0">
                          <a:solidFill>
                            <a:srgbClr val="1B1F2A"/>
                          </a:solidFill>
                        </a:rPr>
                        <a:t>LDI R2, 3</a:t>
                      </a:r>
                      <a:endParaRPr lang="en-US" sz="12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1F2A"/>
                          </a:solidFill>
                        </a:rPr>
                        <a:t>0x683</a:t>
                      </a:r>
                      <a:endParaRPr lang="en-US" sz="12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1F2A"/>
                          </a:solidFill>
                        </a:rPr>
                        <a:t>R2 = 3</a:t>
                      </a:r>
                      <a:endParaRPr lang="en-US" sz="12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1F2A"/>
                          </a:solidFill>
                        </a:rPr>
                        <a:t>–</a:t>
                      </a:r>
                      <a:endParaRPr lang="en-US" sz="12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7472">
                <a:tc>
                  <a:txBody>
                    <a:bodyPr/>
                    <a:lstStyle/>
                    <a:p>
                      <a:pPr marL="0" indent="0" algn="ctr">
                        <a:buNone/>
                      </a:pPr>
                      <a:r>
                        <a:rPr lang="en-US" sz="1200" dirty="0">
                          <a:solidFill>
                            <a:srgbClr val="1B1F2A"/>
                          </a:solidFill>
                        </a:rPr>
                        <a:t>ADD R1, R2</a:t>
                      </a:r>
                      <a:endParaRPr lang="en-US" sz="12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1F2A"/>
                          </a:solidFill>
                        </a:rPr>
                        <a:t>0x060</a:t>
                      </a:r>
                      <a:endParaRPr lang="en-US" sz="12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1F2A"/>
                          </a:solidFill>
                        </a:rPr>
                        <a:t>R1 = 8</a:t>
                      </a:r>
                      <a:endParaRPr lang="en-US" sz="12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1F2A"/>
                          </a:solidFill>
                        </a:rPr>
                        <a:t>Z=0, C=0</a:t>
                      </a:r>
                      <a:endParaRPr lang="en-US" sz="12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lgn="ctr">
                        <a:buNone/>
                      </a:pPr>
                      <a:r>
                        <a:rPr lang="en-US" sz="1200" dirty="0">
                          <a:solidFill>
                            <a:srgbClr val="1B1F2A"/>
                          </a:solidFill>
                        </a:rPr>
                        <a:t>STORE R1, 0</a:t>
                      </a:r>
                      <a:endParaRPr lang="en-US" sz="12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1F2A"/>
                          </a:solidFill>
                        </a:rPr>
                        <a:t>0x940</a:t>
                      </a:r>
                      <a:endParaRPr lang="en-US" sz="12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1F2A"/>
                          </a:solidFill>
                        </a:rPr>
                        <a:t>DMEM[0] = 8</a:t>
                      </a:r>
                      <a:endParaRPr lang="en-US" sz="12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1F2A"/>
                          </a:solidFill>
                        </a:rPr>
                        <a:t>–</a:t>
                      </a:r>
                      <a:endParaRPr lang="en-US" sz="12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7472">
                <a:tc>
                  <a:txBody>
                    <a:bodyPr/>
                    <a:lstStyle/>
                    <a:p>
                      <a:pPr marL="0" indent="0" algn="ctr">
                        <a:buNone/>
                      </a:pPr>
                      <a:r>
                        <a:rPr lang="en-US" sz="1200" dirty="0">
                          <a:solidFill>
                            <a:srgbClr val="1B1F2A"/>
                          </a:solidFill>
                        </a:rPr>
                        <a:t>SUB R1, R2</a:t>
                      </a:r>
                      <a:endParaRPr lang="en-US" sz="12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1F2A"/>
                          </a:solidFill>
                        </a:rPr>
                        <a:t>0x160</a:t>
                      </a:r>
                      <a:endParaRPr lang="en-US" sz="12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1F2A"/>
                          </a:solidFill>
                        </a:rPr>
                        <a:t>R1 = 2</a:t>
                      </a:r>
                      <a:endParaRPr lang="en-US" sz="12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1F2A"/>
                          </a:solidFill>
                        </a:rPr>
                        <a:t>Z=0, C=1</a:t>
                      </a:r>
                      <a:endParaRPr lang="en-US" sz="12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7472">
                <a:tc>
                  <a:txBody>
                    <a:bodyPr/>
                    <a:lstStyle/>
                    <a:p>
                      <a:pPr marL="0" indent="0" algn="ctr">
                        <a:buNone/>
                      </a:pPr>
                      <a:r>
                        <a:rPr lang="en-US" sz="1200" dirty="0">
                          <a:solidFill>
                            <a:srgbClr val="1B1F2A"/>
                          </a:solidFill>
                        </a:rPr>
                        <a:t>LOAD R0, 0</a:t>
                      </a:r>
                      <a:endParaRPr lang="en-US" sz="12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1F2A"/>
                          </a:solidFill>
                        </a:rPr>
                        <a:t>0x800</a:t>
                      </a:r>
                      <a:endParaRPr lang="en-US" sz="12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1F2A"/>
                          </a:solidFill>
                        </a:rPr>
                        <a:t>R0 = 8</a:t>
                      </a:r>
                      <a:endParaRPr lang="en-US" sz="12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1F2A"/>
                          </a:solidFill>
                        </a:rPr>
                        <a:t>–</a:t>
                      </a:r>
                      <a:endParaRPr lang="en-US" sz="12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47472">
                <a:tc>
                  <a:txBody>
                    <a:bodyPr/>
                    <a:lstStyle/>
                    <a:p>
                      <a:pPr marL="0" indent="0" algn="ctr">
                        <a:buNone/>
                      </a:pPr>
                      <a:r>
                        <a:rPr lang="en-US" sz="1200" dirty="0">
                          <a:solidFill>
                            <a:srgbClr val="1B1F2A"/>
                          </a:solidFill>
                        </a:rPr>
                        <a:t>SUB R2, R2</a:t>
                      </a:r>
                      <a:endParaRPr lang="en-US" sz="12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1F2A"/>
                          </a:solidFill>
                        </a:rPr>
                        <a:t>0x1A0</a:t>
                      </a:r>
                      <a:endParaRPr lang="en-US" sz="12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1F2A"/>
                          </a:solidFill>
                        </a:rPr>
                        <a:t>R2 = 0</a:t>
                      </a:r>
                      <a:endParaRPr lang="en-US" sz="12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1F2A"/>
                          </a:solidFill>
                        </a:rPr>
                        <a:t>Z=1, C=1</a:t>
                      </a:r>
                      <a:endParaRPr lang="en-US" sz="12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47472">
                <a:tc>
                  <a:txBody>
                    <a:bodyPr/>
                    <a:lstStyle/>
                    <a:p>
                      <a:pPr marL="0" indent="0" algn="ctr">
                        <a:buNone/>
                      </a:pPr>
                      <a:r>
                        <a:rPr lang="en-US" sz="1200" dirty="0">
                          <a:solidFill>
                            <a:srgbClr val="1B1F2A"/>
                          </a:solidFill>
                        </a:rPr>
                        <a:t>JZ 9</a:t>
                      </a:r>
                      <a:endParaRPr lang="en-US" sz="12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1F2A"/>
                          </a:solidFill>
                        </a:rPr>
                        <a:t>0xB09</a:t>
                      </a:r>
                      <a:endParaRPr lang="en-US" sz="12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1F2A"/>
                          </a:solidFill>
                        </a:rPr>
                        <a:t>PC ← 9, flush 2</a:t>
                      </a:r>
                      <a:endParaRPr lang="en-US" sz="12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1F2A"/>
                          </a:solidFill>
                        </a:rPr>
                        <a:t>–</a:t>
                      </a:r>
                      <a:endParaRPr lang="en-US" sz="12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5" name="card9"/>
          <p:cNvSpPr/>
          <p:nvPr/>
        </p:nvSpPr>
        <p:spPr>
          <a:xfrm>
            <a:off x="5852160" y="1143000"/>
            <a:ext cx="2834640" cy="1463040"/>
          </a:xfrm>
          <a:prstGeom prst="rect">
            <a:avLst/>
          </a:prstGeom>
          <a:solidFill>
            <a:srgbClr val="FFFFFF"/>
          </a:solidFill>
          <a:ln w="9525">
            <a:solidFill>
              <a:srgbClr val="DDE3EA"/>
            </a:solidFill>
            <a:prstDash val="solid"/>
          </a:ln>
        </p:spPr>
      </p:sp>
      <p:sp>
        <p:nvSpPr>
          <p:cNvPr id="6" name="Shape 2"/>
          <p:cNvSpPr/>
          <p:nvPr/>
        </p:nvSpPr>
        <p:spPr>
          <a:xfrm>
            <a:off x="5852160" y="1143000"/>
            <a:ext cx="64008" cy="1463040"/>
          </a:xfrm>
          <a:prstGeom prst="rect">
            <a:avLst/>
          </a:prstGeom>
          <a:solidFill>
            <a:srgbClr val="F28C28"/>
          </a:solidFill>
          <a:ln w="12700">
            <a:solidFill>
              <a:srgbClr val="F28C28"/>
            </a:solidFill>
            <a:prstDash val="solid"/>
          </a:ln>
        </p:spPr>
      </p:sp>
      <p:sp>
        <p:nvSpPr>
          <p:cNvPr id="3" name="Text 3"/>
          <p:cNvSpPr txBox="1"/>
          <p:nvPr/>
        </p:nvSpPr>
        <p:spPr>
          <a:xfrm>
            <a:off x="6035040" y="1216152"/>
            <a:ext cx="2560320" cy="320040"/>
          </a:xfrm>
          <a:prstGeom prst="rect">
            <a:avLst/>
          </a:prstGeom>
          <a:noFill/>
          <a:ln/>
        </p:spPr>
        <p:txBody>
          <a:bodyPr wrap="square" lIns="0" tIns="0" rIns="0" bIns="0" rtlCol="0" anchor="ctr"/>
          <a:lstStyle/>
          <a:p>
            <a:pPr marL="0" indent="0">
              <a:buNone/>
            </a:pPr>
            <a:r>
              <a:rPr lang="en-US" sz="1300" b="1" dirty="0">
                <a:solidFill>
                  <a:srgbClr val="0B2545"/>
                </a:solidFill>
              </a:rPr>
              <a:t>Carry = no-borrow</a:t>
            </a:r>
            <a:endParaRPr lang="en-US" sz="1300" dirty="0"/>
          </a:p>
        </p:txBody>
      </p:sp>
      <p:sp>
        <p:nvSpPr>
          <p:cNvPr id="8" name="Text 4"/>
          <p:cNvSpPr txBox="1"/>
          <p:nvPr/>
        </p:nvSpPr>
        <p:spPr>
          <a:xfrm>
            <a:off x="6035040" y="1554480"/>
            <a:ext cx="2560320" cy="1005840"/>
          </a:xfrm>
          <a:prstGeom prst="rect">
            <a:avLst/>
          </a:prstGeom>
          <a:noFill/>
          <a:ln/>
        </p:spPr>
        <p:txBody>
          <a:bodyPr wrap="square" lIns="0" tIns="0" rIns="0" bIns="0" rtlCol="0" anchor="t"/>
          <a:lstStyle/>
          <a:p>
            <a:pPr marL="0" indent="0">
              <a:buNone/>
            </a:pPr>
            <a:r>
              <a:rPr lang="en-US" sz="1100" dirty="0">
                <a:solidFill>
                  <a:srgbClr val="1B1F2A"/>
                </a:solidFill>
              </a:rPr>
              <a:t>SUB 5 − 3 → C = 1 (no borrow).</a:t>
            </a:r>
            <a:endParaRPr lang="en-US" sz="1100" dirty="0"/>
          </a:p>
          <a:p>
            <a:pPr marL="0" indent="0">
              <a:buNone/>
            </a:pPr>
            <a:r>
              <a:rPr lang="en-US" sz="1100" dirty="0">
                <a:solidFill>
                  <a:srgbClr val="1B1F2A"/>
                </a:solidFill>
              </a:rPr>
              <a:t>SUB 3 − 5 → C = 0 (borrow).</a:t>
            </a:r>
            <a:endParaRPr lang="en-US" sz="1100" dirty="0"/>
          </a:p>
        </p:txBody>
      </p:sp>
      <p:sp>
        <p:nvSpPr>
          <p:cNvPr id="9" name="card10"/>
          <p:cNvSpPr/>
          <p:nvPr/>
        </p:nvSpPr>
        <p:spPr>
          <a:xfrm>
            <a:off x="5852160" y="2788920"/>
            <a:ext cx="2834640" cy="1463040"/>
          </a:xfrm>
          <a:prstGeom prst="rect">
            <a:avLst/>
          </a:prstGeom>
          <a:solidFill>
            <a:srgbClr val="FFFFFF"/>
          </a:solidFill>
          <a:ln w="9525">
            <a:solidFill>
              <a:srgbClr val="DDE3EA"/>
            </a:solidFill>
            <a:prstDash val="solid"/>
          </a:ln>
        </p:spPr>
      </p:sp>
      <p:sp>
        <p:nvSpPr>
          <p:cNvPr id="10" name="Shape 6"/>
          <p:cNvSpPr/>
          <p:nvPr/>
        </p:nvSpPr>
        <p:spPr>
          <a:xfrm>
            <a:off x="5852160" y="2788920"/>
            <a:ext cx="64008" cy="1463040"/>
          </a:xfrm>
          <a:prstGeom prst="rect">
            <a:avLst/>
          </a:prstGeom>
          <a:solidFill>
            <a:srgbClr val="13A89E"/>
          </a:solidFill>
          <a:ln w="12700">
            <a:solidFill>
              <a:srgbClr val="13A89E"/>
            </a:solidFill>
            <a:prstDash val="solid"/>
          </a:ln>
        </p:spPr>
      </p:sp>
      <p:sp>
        <p:nvSpPr>
          <p:cNvPr id="11" name="Text 7"/>
          <p:cNvSpPr txBox="1"/>
          <p:nvPr/>
        </p:nvSpPr>
        <p:spPr>
          <a:xfrm>
            <a:off x="6035040" y="2862072"/>
            <a:ext cx="2560320" cy="320040"/>
          </a:xfrm>
          <a:prstGeom prst="rect">
            <a:avLst/>
          </a:prstGeom>
          <a:noFill/>
          <a:ln/>
        </p:spPr>
        <p:txBody>
          <a:bodyPr wrap="square" lIns="0" tIns="0" rIns="0" bIns="0" rtlCol="0" anchor="ctr"/>
          <a:lstStyle/>
          <a:p>
            <a:pPr marL="0" indent="0">
              <a:buNone/>
            </a:pPr>
            <a:r>
              <a:rPr lang="en-US" sz="1300" b="1" dirty="0">
                <a:solidFill>
                  <a:srgbClr val="0B2545"/>
                </a:solidFill>
              </a:rPr>
              <a:t>Branch Flush</a:t>
            </a:r>
            <a:endParaRPr lang="en-US" sz="1300" dirty="0"/>
          </a:p>
        </p:txBody>
      </p:sp>
      <p:sp>
        <p:nvSpPr>
          <p:cNvPr id="12" name="Text 8"/>
          <p:cNvSpPr txBox="1"/>
          <p:nvPr/>
        </p:nvSpPr>
        <p:spPr>
          <a:xfrm>
            <a:off x="6035040" y="3200400"/>
            <a:ext cx="2560320" cy="1005840"/>
          </a:xfrm>
          <a:prstGeom prst="rect">
            <a:avLst/>
          </a:prstGeom>
          <a:noFill/>
          <a:ln/>
        </p:spPr>
        <p:txBody>
          <a:bodyPr wrap="square" lIns="0" tIns="0" rIns="0" bIns="0" rtlCol="0" anchor="t"/>
          <a:lstStyle/>
          <a:p>
            <a:pPr marL="0" indent="0">
              <a:buNone/>
            </a:pPr>
            <a:r>
              <a:rPr lang="en-US" sz="1100" dirty="0">
                <a:solidFill>
                  <a:srgbClr val="1B1F2A"/>
                </a:solidFill>
              </a:rPr>
              <a:t>Branch resolved in EX → target loaded into PC and the 2 younger instructions become NOP bubbles.</a:t>
            </a:r>
            <a:endParaRPr lang="en-US" sz="11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D99AE"/>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457200" y="109728"/>
            <a:ext cx="8229600" cy="64008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Part B – Verification Methodology</a:t>
            </a:r>
            <a:endParaRPr lang="en-US" sz="2400" dirty="0"/>
          </a:p>
        </p:txBody>
      </p:sp>
      <p:sp>
        <p:nvSpPr>
          <p:cNvPr id="4" name="Text 1"/>
          <p:cNvSpPr txBox="1"/>
          <p:nvPr/>
        </p:nvSpPr>
        <p:spPr>
          <a:xfrm>
            <a:off x="457200" y="1051560"/>
            <a:ext cx="4023360" cy="320040"/>
          </a:xfrm>
          <a:prstGeom prst="rect">
            <a:avLst/>
          </a:prstGeom>
          <a:noFill/>
          <a:ln/>
        </p:spPr>
        <p:txBody>
          <a:bodyPr wrap="square" lIns="0" tIns="0" rIns="0" bIns="0" rtlCol="0" anchor="ctr"/>
          <a:lstStyle/>
          <a:p>
            <a:pPr marL="0" indent="0">
              <a:buNone/>
            </a:pPr>
            <a:r>
              <a:rPr lang="en-US" sz="1500" b="1" dirty="0">
                <a:solidFill>
                  <a:srgbClr val="0B2545"/>
                </a:solidFill>
              </a:rPr>
              <a:t>Tier 1 – Module Level (44 checks)</a:t>
            </a:r>
            <a:endParaRPr lang="en-US" sz="1500" dirty="0"/>
          </a:p>
        </p:txBody>
      </p:sp>
      <p:sp>
        <p:nvSpPr>
          <p:cNvPr id="5" name="card11"/>
          <p:cNvSpPr/>
          <p:nvPr/>
        </p:nvSpPr>
        <p:spPr>
          <a:xfrm>
            <a:off x="457200" y="1417320"/>
            <a:ext cx="4023360" cy="868680"/>
          </a:xfrm>
          <a:prstGeom prst="rect">
            <a:avLst/>
          </a:prstGeom>
          <a:solidFill>
            <a:srgbClr val="FFFFFF"/>
          </a:solidFill>
          <a:ln w="9525">
            <a:solidFill>
              <a:srgbClr val="DDE3EA"/>
            </a:solidFill>
            <a:prstDash val="solid"/>
          </a:ln>
        </p:spPr>
      </p:sp>
      <p:sp>
        <p:nvSpPr>
          <p:cNvPr id="6" name="Shape 3"/>
          <p:cNvSpPr/>
          <p:nvPr/>
        </p:nvSpPr>
        <p:spPr>
          <a:xfrm>
            <a:off x="457200" y="1417320"/>
            <a:ext cx="64008" cy="868680"/>
          </a:xfrm>
          <a:prstGeom prst="rect">
            <a:avLst/>
          </a:prstGeom>
          <a:solidFill>
            <a:srgbClr val="13A89E"/>
          </a:solidFill>
          <a:ln w="12700">
            <a:solidFill>
              <a:srgbClr val="13A89E"/>
            </a:solidFill>
            <a:prstDash val="solid"/>
          </a:ln>
        </p:spPr>
      </p:sp>
      <p:sp>
        <p:nvSpPr>
          <p:cNvPr id="7" name="Text 4"/>
          <p:cNvSpPr txBox="1"/>
          <p:nvPr/>
        </p:nvSpPr>
        <p:spPr>
          <a:xfrm>
            <a:off x="640080" y="1490472"/>
            <a:ext cx="3749040" cy="320040"/>
          </a:xfrm>
          <a:prstGeom prst="rect">
            <a:avLst/>
          </a:prstGeom>
          <a:noFill/>
          <a:ln/>
        </p:spPr>
        <p:txBody>
          <a:bodyPr wrap="square" lIns="0" tIns="0" rIns="0" bIns="0" rtlCol="0" anchor="ctr"/>
          <a:lstStyle/>
          <a:p>
            <a:pPr marL="0" indent="0">
              <a:buNone/>
            </a:pPr>
            <a:r>
              <a:rPr lang="en-US" sz="1300" b="1" dirty="0">
                <a:solidFill>
                  <a:srgbClr val="0B2545"/>
                </a:solidFill>
              </a:rPr>
              <a:t>tb_alu.v  (11)</a:t>
            </a:r>
            <a:endParaRPr lang="en-US" sz="1300" dirty="0"/>
          </a:p>
        </p:txBody>
      </p:sp>
      <p:sp>
        <p:nvSpPr>
          <p:cNvPr id="8" name="Text 5"/>
          <p:cNvSpPr txBox="1"/>
          <p:nvPr/>
        </p:nvSpPr>
        <p:spPr>
          <a:xfrm>
            <a:off x="640080" y="1828800"/>
            <a:ext cx="3749040" cy="411480"/>
          </a:xfrm>
          <a:prstGeom prst="rect">
            <a:avLst/>
          </a:prstGeom>
          <a:noFill/>
          <a:ln/>
        </p:spPr>
        <p:txBody>
          <a:bodyPr wrap="square" lIns="0" tIns="0" rIns="0" bIns="0" rtlCol="0" anchor="t"/>
          <a:lstStyle/>
          <a:p>
            <a:pPr marL="0" indent="0">
              <a:buNone/>
            </a:pPr>
            <a:r>
              <a:rPr lang="en-US" sz="1100" dirty="0">
                <a:solidFill>
                  <a:srgbClr val="1B1F2A"/>
                </a:solidFill>
              </a:rPr>
              <a:t>ADD, SUB with carry/borrow, AND/OR/XOR/NOT, PASS, Zero flag</a:t>
            </a:r>
            <a:endParaRPr lang="en-US" sz="1100" dirty="0"/>
          </a:p>
        </p:txBody>
      </p:sp>
      <p:sp>
        <p:nvSpPr>
          <p:cNvPr id="9" name="card12"/>
          <p:cNvSpPr/>
          <p:nvPr/>
        </p:nvSpPr>
        <p:spPr>
          <a:xfrm>
            <a:off x="457200" y="2377440"/>
            <a:ext cx="4023360" cy="868680"/>
          </a:xfrm>
          <a:prstGeom prst="rect">
            <a:avLst/>
          </a:prstGeom>
          <a:solidFill>
            <a:srgbClr val="FFFFFF"/>
          </a:solidFill>
          <a:ln w="9525">
            <a:solidFill>
              <a:srgbClr val="DDE3EA"/>
            </a:solidFill>
            <a:prstDash val="solid"/>
          </a:ln>
        </p:spPr>
      </p:sp>
      <p:sp>
        <p:nvSpPr>
          <p:cNvPr id="10" name="Shape 7"/>
          <p:cNvSpPr/>
          <p:nvPr/>
        </p:nvSpPr>
        <p:spPr>
          <a:xfrm>
            <a:off x="457200" y="2377440"/>
            <a:ext cx="64008" cy="868680"/>
          </a:xfrm>
          <a:prstGeom prst="rect">
            <a:avLst/>
          </a:prstGeom>
          <a:solidFill>
            <a:srgbClr val="13A89E"/>
          </a:solidFill>
          <a:ln w="12700">
            <a:solidFill>
              <a:srgbClr val="13A89E"/>
            </a:solidFill>
            <a:prstDash val="solid"/>
          </a:ln>
        </p:spPr>
      </p:sp>
      <p:sp>
        <p:nvSpPr>
          <p:cNvPr id="11" name="Text 8"/>
          <p:cNvSpPr txBox="1"/>
          <p:nvPr/>
        </p:nvSpPr>
        <p:spPr>
          <a:xfrm>
            <a:off x="640080" y="2450592"/>
            <a:ext cx="3749040" cy="320040"/>
          </a:xfrm>
          <a:prstGeom prst="rect">
            <a:avLst/>
          </a:prstGeom>
          <a:noFill/>
          <a:ln/>
        </p:spPr>
        <p:txBody>
          <a:bodyPr wrap="square" lIns="0" tIns="0" rIns="0" bIns="0" rtlCol="0" anchor="ctr"/>
          <a:lstStyle/>
          <a:p>
            <a:pPr marL="0" indent="0">
              <a:buNone/>
            </a:pPr>
            <a:r>
              <a:rPr lang="en-US" sz="1300" b="1" dirty="0">
                <a:solidFill>
                  <a:srgbClr val="0B2545"/>
                </a:solidFill>
              </a:rPr>
              <a:t>tb_register_file.v  (11)</a:t>
            </a:r>
            <a:endParaRPr lang="en-US" sz="1300" dirty="0"/>
          </a:p>
        </p:txBody>
      </p:sp>
      <p:sp>
        <p:nvSpPr>
          <p:cNvPr id="12" name="Text 9"/>
          <p:cNvSpPr txBox="1"/>
          <p:nvPr/>
        </p:nvSpPr>
        <p:spPr>
          <a:xfrm>
            <a:off x="640080" y="2788920"/>
            <a:ext cx="3749040" cy="411480"/>
          </a:xfrm>
          <a:prstGeom prst="rect">
            <a:avLst/>
          </a:prstGeom>
          <a:noFill/>
          <a:ln/>
        </p:spPr>
        <p:txBody>
          <a:bodyPr wrap="square" lIns="0" tIns="0" rIns="0" bIns="0" rtlCol="0" anchor="t"/>
          <a:lstStyle/>
          <a:p>
            <a:pPr marL="0" indent="0">
              <a:buNone/>
            </a:pPr>
            <a:r>
              <a:rPr lang="en-US" sz="1100" dirty="0">
                <a:solidFill>
                  <a:srgbClr val="1B1F2A"/>
                </a:solidFill>
              </a:rPr>
              <a:t>Reset, R0–R3 read/write, dual-port read, hold when reg_we = 0</a:t>
            </a:r>
            <a:endParaRPr lang="en-US" sz="1100" dirty="0"/>
          </a:p>
        </p:txBody>
      </p:sp>
      <p:sp>
        <p:nvSpPr>
          <p:cNvPr id="13" name="card13"/>
          <p:cNvSpPr/>
          <p:nvPr/>
        </p:nvSpPr>
        <p:spPr>
          <a:xfrm>
            <a:off x="457200" y="3337560"/>
            <a:ext cx="4023360" cy="868680"/>
          </a:xfrm>
          <a:prstGeom prst="rect">
            <a:avLst/>
          </a:prstGeom>
          <a:solidFill>
            <a:srgbClr val="FFFFFF"/>
          </a:solidFill>
          <a:ln w="9525">
            <a:solidFill>
              <a:srgbClr val="DDE3EA"/>
            </a:solidFill>
            <a:prstDash val="solid"/>
          </a:ln>
        </p:spPr>
      </p:sp>
      <p:sp>
        <p:nvSpPr>
          <p:cNvPr id="14" name="Shape 11"/>
          <p:cNvSpPr/>
          <p:nvPr/>
        </p:nvSpPr>
        <p:spPr>
          <a:xfrm>
            <a:off x="457200" y="3337560"/>
            <a:ext cx="64008" cy="868680"/>
          </a:xfrm>
          <a:prstGeom prst="rect">
            <a:avLst/>
          </a:prstGeom>
          <a:solidFill>
            <a:srgbClr val="13A89E"/>
          </a:solidFill>
          <a:ln w="12700">
            <a:solidFill>
              <a:srgbClr val="13A89E"/>
            </a:solidFill>
            <a:prstDash val="solid"/>
          </a:ln>
        </p:spPr>
      </p:sp>
      <p:sp>
        <p:nvSpPr>
          <p:cNvPr id="15" name="Text 12"/>
          <p:cNvSpPr txBox="1"/>
          <p:nvPr/>
        </p:nvSpPr>
        <p:spPr>
          <a:xfrm>
            <a:off x="640080" y="3410712"/>
            <a:ext cx="3749040" cy="320040"/>
          </a:xfrm>
          <a:prstGeom prst="rect">
            <a:avLst/>
          </a:prstGeom>
          <a:noFill/>
          <a:ln/>
        </p:spPr>
        <p:txBody>
          <a:bodyPr wrap="square" lIns="0" tIns="0" rIns="0" bIns="0" rtlCol="0" anchor="ctr"/>
          <a:lstStyle/>
          <a:p>
            <a:pPr marL="0" indent="0">
              <a:buNone/>
            </a:pPr>
            <a:r>
              <a:rPr lang="en-US" sz="1300" b="1" dirty="0">
                <a:solidFill>
                  <a:srgbClr val="0B2545"/>
                </a:solidFill>
              </a:rPr>
              <a:t>tb_control_unit.v  (22)</a:t>
            </a:r>
            <a:endParaRPr lang="en-US" sz="1300" dirty="0"/>
          </a:p>
        </p:txBody>
      </p:sp>
      <p:sp>
        <p:nvSpPr>
          <p:cNvPr id="16" name="Text 13"/>
          <p:cNvSpPr txBox="1"/>
          <p:nvPr/>
        </p:nvSpPr>
        <p:spPr>
          <a:xfrm>
            <a:off x="640080" y="3749040"/>
            <a:ext cx="3749040" cy="411480"/>
          </a:xfrm>
          <a:prstGeom prst="rect">
            <a:avLst/>
          </a:prstGeom>
          <a:noFill/>
          <a:ln/>
        </p:spPr>
        <p:txBody>
          <a:bodyPr wrap="square" lIns="0" tIns="0" rIns="0" bIns="0" rtlCol="0" anchor="t"/>
          <a:lstStyle/>
          <a:p>
            <a:pPr marL="0" indent="0">
              <a:buNone/>
            </a:pPr>
            <a:r>
              <a:rPr lang="en-US" sz="1100" dirty="0">
                <a:solidFill>
                  <a:srgbClr val="1B1F2A"/>
                </a:solidFill>
              </a:rPr>
              <a:t>16 opcodes (incl. 4 reserved) + 6 branch_unit scenarios</a:t>
            </a:r>
            <a:endParaRPr lang="en-US" sz="1100" dirty="0"/>
          </a:p>
        </p:txBody>
      </p:sp>
      <p:sp>
        <p:nvSpPr>
          <p:cNvPr id="17" name="Text 14"/>
          <p:cNvSpPr txBox="1"/>
          <p:nvPr/>
        </p:nvSpPr>
        <p:spPr>
          <a:xfrm>
            <a:off x="4663440" y="1051560"/>
            <a:ext cx="4023360" cy="320040"/>
          </a:xfrm>
          <a:prstGeom prst="rect">
            <a:avLst/>
          </a:prstGeom>
          <a:noFill/>
          <a:ln/>
        </p:spPr>
        <p:txBody>
          <a:bodyPr wrap="square" lIns="0" tIns="0" rIns="0" bIns="0" rtlCol="0" anchor="ctr"/>
          <a:lstStyle/>
          <a:p>
            <a:pPr marL="0" indent="0">
              <a:buNone/>
            </a:pPr>
            <a:r>
              <a:rPr lang="en-US" sz="1500" b="1" dirty="0">
                <a:solidFill>
                  <a:srgbClr val="0B2545"/>
                </a:solidFill>
              </a:rPr>
              <a:t>Tier 2 – System Level: tb_cpu.v (44 checks)</a:t>
            </a:r>
            <a:endParaRPr lang="en-US" sz="1500" dirty="0"/>
          </a:p>
        </p:txBody>
      </p:sp>
      <p:sp>
        <p:nvSpPr>
          <p:cNvPr id="18" name="Shape 15"/>
          <p:cNvSpPr/>
          <p:nvPr/>
        </p:nvSpPr>
        <p:spPr>
          <a:xfrm>
            <a:off x="4663440" y="1417320"/>
            <a:ext cx="4023360" cy="502920"/>
          </a:xfrm>
          <a:prstGeom prst="rect">
            <a:avLst/>
          </a:prstGeom>
          <a:solidFill>
            <a:srgbClr val="FFFFFF"/>
          </a:solidFill>
          <a:ln w="9525">
            <a:solidFill>
              <a:srgbClr val="DDE3EA"/>
            </a:solidFill>
            <a:prstDash val="solid"/>
          </a:ln>
        </p:spPr>
      </p:sp>
      <p:sp>
        <p:nvSpPr>
          <p:cNvPr id="19" name="Shape 16"/>
          <p:cNvSpPr/>
          <p:nvPr/>
        </p:nvSpPr>
        <p:spPr>
          <a:xfrm>
            <a:off x="4663440" y="1417320"/>
            <a:ext cx="64008" cy="502920"/>
          </a:xfrm>
          <a:prstGeom prst="rect">
            <a:avLst/>
          </a:prstGeom>
          <a:solidFill>
            <a:srgbClr val="F28C28"/>
          </a:solidFill>
          <a:ln w="12700">
            <a:solidFill>
              <a:srgbClr val="F28C28"/>
            </a:solidFill>
            <a:prstDash val="solid"/>
          </a:ln>
        </p:spPr>
      </p:sp>
      <p:sp>
        <p:nvSpPr>
          <p:cNvPr id="20" name="Text 17"/>
          <p:cNvSpPr txBox="1"/>
          <p:nvPr/>
        </p:nvSpPr>
        <p:spPr>
          <a:xfrm>
            <a:off x="4846320" y="1417320"/>
            <a:ext cx="3749040" cy="502920"/>
          </a:xfrm>
          <a:prstGeom prst="rect">
            <a:avLst/>
          </a:prstGeom>
          <a:noFill/>
          <a:ln/>
        </p:spPr>
        <p:txBody>
          <a:bodyPr wrap="square" lIns="0" tIns="0" rIns="0" bIns="0" rtlCol="0" anchor="ctr"/>
          <a:lstStyle/>
          <a:p>
            <a:pPr marL="0" indent="0">
              <a:buNone/>
            </a:pPr>
            <a:r>
              <a:rPr lang="en-US" sz="1100" b="1" dirty="0">
                <a:solidFill>
                  <a:srgbClr val="0B2545"/>
                </a:solidFill>
              </a:rPr>
              <a:t>Test 1 – program.mem</a:t>
            </a:r>
            <a:endParaRPr lang="en-US" sz="1100" dirty="0"/>
          </a:p>
          <a:p>
            <a:pPr marL="0" indent="0">
              <a:buNone/>
            </a:pPr>
            <a:r>
              <a:rPr lang="en-US" sz="1100" dirty="0">
                <a:solidFill>
                  <a:srgbClr val="1B1F2A"/>
                </a:solidFill>
              </a:rPr>
              <a:t>LDI, ADD, XOR, infinite JMP loop</a:t>
            </a:r>
            <a:endParaRPr lang="en-US" sz="1100" dirty="0"/>
          </a:p>
        </p:txBody>
      </p:sp>
      <p:sp>
        <p:nvSpPr>
          <p:cNvPr id="21" name="Shape 18"/>
          <p:cNvSpPr/>
          <p:nvPr/>
        </p:nvSpPr>
        <p:spPr>
          <a:xfrm>
            <a:off x="4663440" y="1984248"/>
            <a:ext cx="4023360" cy="502920"/>
          </a:xfrm>
          <a:prstGeom prst="rect">
            <a:avLst/>
          </a:prstGeom>
          <a:solidFill>
            <a:srgbClr val="FFFFFF"/>
          </a:solidFill>
          <a:ln w="9525">
            <a:solidFill>
              <a:srgbClr val="DDE3EA"/>
            </a:solidFill>
            <a:prstDash val="solid"/>
          </a:ln>
        </p:spPr>
      </p:sp>
      <p:sp>
        <p:nvSpPr>
          <p:cNvPr id="22" name="Shape 19"/>
          <p:cNvSpPr/>
          <p:nvPr/>
        </p:nvSpPr>
        <p:spPr>
          <a:xfrm>
            <a:off x="4663440" y="1984248"/>
            <a:ext cx="64008" cy="502920"/>
          </a:xfrm>
          <a:prstGeom prst="rect">
            <a:avLst/>
          </a:prstGeom>
          <a:solidFill>
            <a:srgbClr val="F28C28"/>
          </a:solidFill>
          <a:ln w="12700">
            <a:solidFill>
              <a:srgbClr val="F28C28"/>
            </a:solidFill>
            <a:prstDash val="solid"/>
          </a:ln>
        </p:spPr>
      </p:sp>
      <p:sp>
        <p:nvSpPr>
          <p:cNvPr id="23" name="Text 20"/>
          <p:cNvSpPr txBox="1"/>
          <p:nvPr/>
        </p:nvSpPr>
        <p:spPr>
          <a:xfrm>
            <a:off x="4846320" y="1984248"/>
            <a:ext cx="3749040" cy="502920"/>
          </a:xfrm>
          <a:prstGeom prst="rect">
            <a:avLst/>
          </a:prstGeom>
          <a:noFill/>
          <a:ln/>
        </p:spPr>
        <p:txBody>
          <a:bodyPr wrap="square" lIns="0" tIns="0" rIns="0" bIns="0" rtlCol="0" anchor="ctr"/>
          <a:lstStyle/>
          <a:p>
            <a:pPr marL="0" indent="0">
              <a:buNone/>
            </a:pPr>
            <a:r>
              <a:rPr lang="en-US" sz="1100" b="1" dirty="0">
                <a:solidFill>
                  <a:srgbClr val="0B2545"/>
                </a:solidFill>
              </a:rPr>
              <a:t>Test 2 – prog_arith.mem</a:t>
            </a:r>
            <a:endParaRPr lang="en-US" sz="1100" dirty="0"/>
          </a:p>
          <a:p>
            <a:pPr marL="0" indent="0">
              <a:buNone/>
            </a:pPr>
            <a:r>
              <a:rPr lang="en-US" sz="1100" dirty="0">
                <a:solidFill>
                  <a:srgbClr val="1B1F2A"/>
                </a:solidFill>
              </a:rPr>
              <a:t>ADD/SUB, Carry, STORE, LOAD, Zero</a:t>
            </a:r>
            <a:endParaRPr lang="en-US" sz="1100" dirty="0"/>
          </a:p>
        </p:txBody>
      </p:sp>
      <p:sp>
        <p:nvSpPr>
          <p:cNvPr id="24" name="Shape 21"/>
          <p:cNvSpPr/>
          <p:nvPr/>
        </p:nvSpPr>
        <p:spPr>
          <a:xfrm>
            <a:off x="4663440" y="2551176"/>
            <a:ext cx="4023360" cy="502920"/>
          </a:xfrm>
          <a:prstGeom prst="rect">
            <a:avLst/>
          </a:prstGeom>
          <a:solidFill>
            <a:srgbClr val="FFFFFF"/>
          </a:solidFill>
          <a:ln w="9525">
            <a:solidFill>
              <a:srgbClr val="DDE3EA"/>
            </a:solidFill>
            <a:prstDash val="solid"/>
          </a:ln>
        </p:spPr>
      </p:sp>
      <p:sp>
        <p:nvSpPr>
          <p:cNvPr id="25" name="Shape 22"/>
          <p:cNvSpPr/>
          <p:nvPr/>
        </p:nvSpPr>
        <p:spPr>
          <a:xfrm>
            <a:off x="4663440" y="2551176"/>
            <a:ext cx="64008" cy="502920"/>
          </a:xfrm>
          <a:prstGeom prst="rect">
            <a:avLst/>
          </a:prstGeom>
          <a:solidFill>
            <a:srgbClr val="F28C28"/>
          </a:solidFill>
          <a:ln w="12700">
            <a:solidFill>
              <a:srgbClr val="F28C28"/>
            </a:solidFill>
            <a:prstDash val="solid"/>
          </a:ln>
        </p:spPr>
      </p:sp>
      <p:sp>
        <p:nvSpPr>
          <p:cNvPr id="26" name="Text 23"/>
          <p:cNvSpPr txBox="1"/>
          <p:nvPr/>
        </p:nvSpPr>
        <p:spPr>
          <a:xfrm>
            <a:off x="4846320" y="2551176"/>
            <a:ext cx="3749040" cy="502920"/>
          </a:xfrm>
          <a:prstGeom prst="rect">
            <a:avLst/>
          </a:prstGeom>
          <a:noFill/>
          <a:ln/>
        </p:spPr>
        <p:txBody>
          <a:bodyPr wrap="square" lIns="0" tIns="0" rIns="0" bIns="0" rtlCol="0" anchor="ctr"/>
          <a:lstStyle/>
          <a:p>
            <a:pPr marL="0" indent="0">
              <a:buNone/>
            </a:pPr>
            <a:r>
              <a:rPr lang="en-US" sz="1100" b="1" dirty="0">
                <a:solidFill>
                  <a:srgbClr val="0B2545"/>
                </a:solidFill>
              </a:rPr>
              <a:t>Test 3 – prog_logic.mem</a:t>
            </a:r>
            <a:endParaRPr lang="en-US" sz="1100" dirty="0"/>
          </a:p>
          <a:p>
            <a:pPr marL="0" indent="0">
              <a:buNone/>
            </a:pPr>
            <a:r>
              <a:rPr lang="en-US" sz="1100" dirty="0">
                <a:solidFill>
                  <a:srgbClr val="1B1F2A"/>
                </a:solidFill>
              </a:rPr>
              <a:t>MOV, AND/OR/XOR/NOT, clear via XOR Rd,Rd</a:t>
            </a:r>
            <a:endParaRPr lang="en-US" sz="1100" dirty="0"/>
          </a:p>
        </p:txBody>
      </p:sp>
      <p:sp>
        <p:nvSpPr>
          <p:cNvPr id="27" name="Shape 24"/>
          <p:cNvSpPr/>
          <p:nvPr/>
        </p:nvSpPr>
        <p:spPr>
          <a:xfrm>
            <a:off x="4663440" y="3118104"/>
            <a:ext cx="4023360" cy="502920"/>
          </a:xfrm>
          <a:prstGeom prst="rect">
            <a:avLst/>
          </a:prstGeom>
          <a:solidFill>
            <a:srgbClr val="FFFFFF"/>
          </a:solidFill>
          <a:ln w="9525">
            <a:solidFill>
              <a:srgbClr val="DDE3EA"/>
            </a:solidFill>
            <a:prstDash val="solid"/>
          </a:ln>
        </p:spPr>
      </p:sp>
      <p:sp>
        <p:nvSpPr>
          <p:cNvPr id="28" name="Shape 25"/>
          <p:cNvSpPr/>
          <p:nvPr/>
        </p:nvSpPr>
        <p:spPr>
          <a:xfrm>
            <a:off x="4663440" y="3118104"/>
            <a:ext cx="64008" cy="502920"/>
          </a:xfrm>
          <a:prstGeom prst="rect">
            <a:avLst/>
          </a:prstGeom>
          <a:solidFill>
            <a:srgbClr val="F28C28"/>
          </a:solidFill>
          <a:ln w="12700">
            <a:solidFill>
              <a:srgbClr val="F28C28"/>
            </a:solidFill>
            <a:prstDash val="solid"/>
          </a:ln>
        </p:spPr>
      </p:sp>
      <p:sp>
        <p:nvSpPr>
          <p:cNvPr id="29" name="Text 26"/>
          <p:cNvSpPr txBox="1"/>
          <p:nvPr/>
        </p:nvSpPr>
        <p:spPr>
          <a:xfrm>
            <a:off x="4846320" y="3118104"/>
            <a:ext cx="3749040" cy="502920"/>
          </a:xfrm>
          <a:prstGeom prst="rect">
            <a:avLst/>
          </a:prstGeom>
          <a:noFill/>
          <a:ln/>
        </p:spPr>
        <p:txBody>
          <a:bodyPr wrap="square" lIns="0" tIns="0" rIns="0" bIns="0" rtlCol="0" anchor="ctr"/>
          <a:lstStyle/>
          <a:p>
            <a:pPr marL="0" indent="0">
              <a:buNone/>
            </a:pPr>
            <a:r>
              <a:rPr lang="en-US" sz="1100" b="1" dirty="0">
                <a:solidFill>
                  <a:srgbClr val="0B2545"/>
                </a:solidFill>
              </a:rPr>
              <a:t>Test 4 – prog_jump.mem</a:t>
            </a:r>
            <a:endParaRPr lang="en-US" sz="1100" dirty="0"/>
          </a:p>
          <a:p>
            <a:pPr marL="0" indent="0">
              <a:buNone/>
            </a:pPr>
            <a:r>
              <a:rPr lang="en-US" sz="1100" dirty="0">
                <a:solidFill>
                  <a:srgbClr val="1B1F2A"/>
                </a:solidFill>
              </a:rPr>
              <a:t>JMP, JZ (Z=1 / Z=0), 2-bubble flush</a:t>
            </a:r>
            <a:endParaRPr lang="en-US" sz="1100" dirty="0"/>
          </a:p>
        </p:txBody>
      </p:sp>
      <p:sp>
        <p:nvSpPr>
          <p:cNvPr id="30" name="Shape 27"/>
          <p:cNvSpPr/>
          <p:nvPr/>
        </p:nvSpPr>
        <p:spPr>
          <a:xfrm>
            <a:off x="4663440" y="3685032"/>
            <a:ext cx="4023360" cy="502920"/>
          </a:xfrm>
          <a:prstGeom prst="rect">
            <a:avLst/>
          </a:prstGeom>
          <a:solidFill>
            <a:srgbClr val="FFFFFF"/>
          </a:solidFill>
          <a:ln w="9525">
            <a:solidFill>
              <a:srgbClr val="DDE3EA"/>
            </a:solidFill>
            <a:prstDash val="solid"/>
          </a:ln>
        </p:spPr>
      </p:sp>
      <p:sp>
        <p:nvSpPr>
          <p:cNvPr id="31" name="Shape 28"/>
          <p:cNvSpPr/>
          <p:nvPr/>
        </p:nvSpPr>
        <p:spPr>
          <a:xfrm>
            <a:off x="4663440" y="3685032"/>
            <a:ext cx="64008" cy="502920"/>
          </a:xfrm>
          <a:prstGeom prst="rect">
            <a:avLst/>
          </a:prstGeom>
          <a:solidFill>
            <a:srgbClr val="F28C28"/>
          </a:solidFill>
          <a:ln w="12700">
            <a:solidFill>
              <a:srgbClr val="F28C28"/>
            </a:solidFill>
            <a:prstDash val="solid"/>
          </a:ln>
        </p:spPr>
      </p:sp>
      <p:sp>
        <p:nvSpPr>
          <p:cNvPr id="32" name="Text 29"/>
          <p:cNvSpPr txBox="1"/>
          <p:nvPr/>
        </p:nvSpPr>
        <p:spPr>
          <a:xfrm>
            <a:off x="4846320" y="3685032"/>
            <a:ext cx="3749040" cy="502920"/>
          </a:xfrm>
          <a:prstGeom prst="rect">
            <a:avLst/>
          </a:prstGeom>
          <a:noFill/>
          <a:ln/>
        </p:spPr>
        <p:txBody>
          <a:bodyPr wrap="square" lIns="0" tIns="0" rIns="0" bIns="0" rtlCol="0" anchor="ctr"/>
          <a:lstStyle/>
          <a:p>
            <a:pPr marL="0" indent="0">
              <a:buNone/>
            </a:pPr>
            <a:r>
              <a:rPr lang="en-US" sz="1100" b="1" dirty="0">
                <a:solidFill>
                  <a:srgbClr val="0B2545"/>
                </a:solidFill>
              </a:rPr>
              <a:t>Test 5 – Reset</a:t>
            </a:r>
            <a:endParaRPr lang="en-US" sz="1100" dirty="0"/>
          </a:p>
          <a:p>
            <a:pPr marL="0" indent="0">
              <a:buNone/>
            </a:pPr>
            <a:r>
              <a:rPr lang="en-US" sz="1100" dirty="0">
                <a:solidFill>
                  <a:srgbClr val="1B1F2A"/>
                </a:solidFill>
              </a:rPr>
              <a:t>Sync reset + no X/Z on any bus</a:t>
            </a:r>
            <a:endParaRPr lang="en-US" sz="1100" dirty="0"/>
          </a:p>
        </p:txBody>
      </p:sp>
      <p:sp>
        <p:nvSpPr>
          <p:cNvPr id="3"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D99AE"/>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457200" y="109728"/>
            <a:ext cx="8229600" cy="64008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Simulation Results – 88 / 88 PASSED</a:t>
            </a:r>
            <a:endParaRPr lang="en-US" sz="2400" dirty="0"/>
          </a:p>
        </p:txBody>
      </p:sp>
      <p:sp>
        <p:nvSpPr>
          <p:cNvPr id="4" name="Shape 1"/>
          <p:cNvSpPr/>
          <p:nvPr/>
        </p:nvSpPr>
        <p:spPr>
          <a:xfrm>
            <a:off x="457200" y="1188720"/>
            <a:ext cx="1965960" cy="1737360"/>
          </a:xfrm>
          <a:prstGeom prst="rect">
            <a:avLst/>
          </a:prstGeom>
          <a:solidFill>
            <a:srgbClr val="FFFFFF"/>
          </a:solidFill>
          <a:ln w="9525">
            <a:solidFill>
              <a:srgbClr val="DDE3EA"/>
            </a:solidFill>
            <a:prstDash val="solid"/>
          </a:ln>
        </p:spPr>
      </p:sp>
      <p:sp>
        <p:nvSpPr>
          <p:cNvPr id="5" name="Shape 2"/>
          <p:cNvSpPr/>
          <p:nvPr/>
        </p:nvSpPr>
        <p:spPr>
          <a:xfrm>
            <a:off x="457200" y="1188720"/>
            <a:ext cx="1965960" cy="64008"/>
          </a:xfrm>
          <a:prstGeom prst="rect">
            <a:avLst/>
          </a:prstGeom>
          <a:solidFill>
            <a:srgbClr val="2E9E5B"/>
          </a:solidFill>
          <a:ln w="12700">
            <a:solidFill>
              <a:srgbClr val="2E9E5B"/>
            </a:solidFill>
            <a:prstDash val="solid"/>
          </a:ln>
        </p:spPr>
      </p:sp>
      <p:sp>
        <p:nvSpPr>
          <p:cNvPr id="6" name="Text 3"/>
          <p:cNvSpPr txBox="1"/>
          <p:nvPr/>
        </p:nvSpPr>
        <p:spPr>
          <a:xfrm>
            <a:off x="457200" y="1325880"/>
            <a:ext cx="1965960" cy="320040"/>
          </a:xfrm>
          <a:prstGeom prst="rect">
            <a:avLst/>
          </a:prstGeom>
          <a:noFill/>
          <a:ln/>
        </p:spPr>
        <p:txBody>
          <a:bodyPr wrap="square" rtlCol="0" anchor="ctr"/>
          <a:lstStyle/>
          <a:p>
            <a:pPr marL="0" indent="0" algn="ctr">
              <a:buNone/>
            </a:pPr>
            <a:r>
              <a:rPr lang="en-US" sz="1300" b="1" dirty="0">
                <a:solidFill>
                  <a:srgbClr val="0B2545"/>
                </a:solidFill>
              </a:rPr>
              <a:t>tb_alu</a:t>
            </a:r>
            <a:endParaRPr lang="en-US" sz="1300" dirty="0"/>
          </a:p>
        </p:txBody>
      </p:sp>
      <p:sp>
        <p:nvSpPr>
          <p:cNvPr id="7" name="Text 4"/>
          <p:cNvSpPr txBox="1"/>
          <p:nvPr/>
        </p:nvSpPr>
        <p:spPr>
          <a:xfrm>
            <a:off x="457200" y="1691640"/>
            <a:ext cx="1965960" cy="640080"/>
          </a:xfrm>
          <a:prstGeom prst="rect">
            <a:avLst/>
          </a:prstGeom>
          <a:noFill/>
          <a:ln/>
        </p:spPr>
        <p:txBody>
          <a:bodyPr wrap="square" rtlCol="0" anchor="ctr"/>
          <a:lstStyle/>
          <a:p>
            <a:pPr marL="0" indent="0" algn="ctr">
              <a:buNone/>
            </a:pPr>
            <a:r>
              <a:rPr lang="en-US" sz="3000" b="1" dirty="0">
                <a:solidFill>
                  <a:srgbClr val="2E9E5B"/>
                </a:solidFill>
              </a:rPr>
              <a:t>11 / 11</a:t>
            </a:r>
            <a:endParaRPr lang="en-US" sz="3000" dirty="0"/>
          </a:p>
        </p:txBody>
      </p:sp>
      <p:sp>
        <p:nvSpPr>
          <p:cNvPr id="8" name="Text 5"/>
          <p:cNvSpPr txBox="1"/>
          <p:nvPr/>
        </p:nvSpPr>
        <p:spPr>
          <a:xfrm>
            <a:off x="457200" y="2423160"/>
            <a:ext cx="1965960" cy="320040"/>
          </a:xfrm>
          <a:prstGeom prst="rect">
            <a:avLst/>
          </a:prstGeom>
          <a:noFill/>
          <a:ln/>
        </p:spPr>
        <p:txBody>
          <a:bodyPr wrap="square" rtlCol="0" anchor="ctr"/>
          <a:lstStyle/>
          <a:p>
            <a:pPr marL="0" indent="0" algn="ctr">
              <a:buNone/>
            </a:pPr>
            <a:r>
              <a:rPr lang="en-US" sz="1100" dirty="0">
                <a:solidFill>
                  <a:srgbClr val="1B1F2A"/>
                </a:solidFill>
              </a:rPr>
              <a:t>PASSED @ 110 ns</a:t>
            </a:r>
            <a:endParaRPr lang="en-US" sz="1100" dirty="0"/>
          </a:p>
        </p:txBody>
      </p:sp>
      <p:sp>
        <p:nvSpPr>
          <p:cNvPr id="9" name="Shape 6"/>
          <p:cNvSpPr/>
          <p:nvPr/>
        </p:nvSpPr>
        <p:spPr>
          <a:xfrm>
            <a:off x="2560320" y="1188720"/>
            <a:ext cx="1965960" cy="1737360"/>
          </a:xfrm>
          <a:prstGeom prst="rect">
            <a:avLst/>
          </a:prstGeom>
          <a:solidFill>
            <a:srgbClr val="FFFFFF"/>
          </a:solidFill>
          <a:ln w="9525">
            <a:solidFill>
              <a:srgbClr val="DDE3EA"/>
            </a:solidFill>
            <a:prstDash val="solid"/>
          </a:ln>
        </p:spPr>
      </p:sp>
      <p:sp>
        <p:nvSpPr>
          <p:cNvPr id="10" name="Shape 7"/>
          <p:cNvSpPr/>
          <p:nvPr/>
        </p:nvSpPr>
        <p:spPr>
          <a:xfrm>
            <a:off x="2560320" y="1188720"/>
            <a:ext cx="1965960" cy="64008"/>
          </a:xfrm>
          <a:prstGeom prst="rect">
            <a:avLst/>
          </a:prstGeom>
          <a:solidFill>
            <a:srgbClr val="2E9E5B"/>
          </a:solidFill>
          <a:ln w="12700">
            <a:solidFill>
              <a:srgbClr val="2E9E5B"/>
            </a:solidFill>
            <a:prstDash val="solid"/>
          </a:ln>
        </p:spPr>
      </p:sp>
      <p:sp>
        <p:nvSpPr>
          <p:cNvPr id="11" name="Text 8"/>
          <p:cNvSpPr txBox="1"/>
          <p:nvPr/>
        </p:nvSpPr>
        <p:spPr>
          <a:xfrm>
            <a:off x="2560320" y="1325880"/>
            <a:ext cx="1965960" cy="320040"/>
          </a:xfrm>
          <a:prstGeom prst="rect">
            <a:avLst/>
          </a:prstGeom>
          <a:noFill/>
          <a:ln/>
        </p:spPr>
        <p:txBody>
          <a:bodyPr wrap="square" rtlCol="0" anchor="ctr"/>
          <a:lstStyle/>
          <a:p>
            <a:pPr marL="0" indent="0" algn="ctr">
              <a:buNone/>
            </a:pPr>
            <a:r>
              <a:rPr lang="en-US" sz="1300" b="1" dirty="0">
                <a:solidFill>
                  <a:srgbClr val="0B2545"/>
                </a:solidFill>
              </a:rPr>
              <a:t>tb_register_file</a:t>
            </a:r>
            <a:endParaRPr lang="en-US" sz="1300" dirty="0"/>
          </a:p>
        </p:txBody>
      </p:sp>
      <p:sp>
        <p:nvSpPr>
          <p:cNvPr id="12" name="Text 9"/>
          <p:cNvSpPr txBox="1"/>
          <p:nvPr/>
        </p:nvSpPr>
        <p:spPr>
          <a:xfrm>
            <a:off x="2560320" y="1691640"/>
            <a:ext cx="1965960" cy="640080"/>
          </a:xfrm>
          <a:prstGeom prst="rect">
            <a:avLst/>
          </a:prstGeom>
          <a:noFill/>
          <a:ln/>
        </p:spPr>
        <p:txBody>
          <a:bodyPr wrap="square" rtlCol="0" anchor="ctr"/>
          <a:lstStyle/>
          <a:p>
            <a:pPr marL="0" indent="0" algn="ctr">
              <a:buNone/>
            </a:pPr>
            <a:r>
              <a:rPr lang="en-US" sz="3000" b="1" dirty="0">
                <a:solidFill>
                  <a:srgbClr val="2E9E5B"/>
                </a:solidFill>
              </a:rPr>
              <a:t>11 / 11</a:t>
            </a:r>
            <a:endParaRPr lang="en-US" sz="3000" dirty="0"/>
          </a:p>
        </p:txBody>
      </p:sp>
      <p:sp>
        <p:nvSpPr>
          <p:cNvPr id="13" name="Text 10"/>
          <p:cNvSpPr txBox="1"/>
          <p:nvPr/>
        </p:nvSpPr>
        <p:spPr>
          <a:xfrm>
            <a:off x="2560320" y="2423160"/>
            <a:ext cx="1965960" cy="320040"/>
          </a:xfrm>
          <a:prstGeom prst="rect">
            <a:avLst/>
          </a:prstGeom>
          <a:noFill/>
          <a:ln/>
        </p:spPr>
        <p:txBody>
          <a:bodyPr wrap="square" rtlCol="0" anchor="ctr"/>
          <a:lstStyle/>
          <a:p>
            <a:pPr marL="0" indent="0" algn="ctr">
              <a:buNone/>
            </a:pPr>
            <a:r>
              <a:rPr lang="en-US" sz="1100" dirty="0">
                <a:solidFill>
                  <a:srgbClr val="1B1F2A"/>
                </a:solidFill>
              </a:rPr>
              <a:t>PASSED @ 67 ns</a:t>
            </a:r>
            <a:endParaRPr lang="en-US" sz="1100" dirty="0"/>
          </a:p>
        </p:txBody>
      </p:sp>
      <p:sp>
        <p:nvSpPr>
          <p:cNvPr id="14" name="Shape 11"/>
          <p:cNvSpPr/>
          <p:nvPr/>
        </p:nvSpPr>
        <p:spPr>
          <a:xfrm>
            <a:off x="4663440" y="1188720"/>
            <a:ext cx="1965960" cy="1737360"/>
          </a:xfrm>
          <a:prstGeom prst="rect">
            <a:avLst/>
          </a:prstGeom>
          <a:solidFill>
            <a:srgbClr val="FFFFFF"/>
          </a:solidFill>
          <a:ln w="9525">
            <a:solidFill>
              <a:srgbClr val="DDE3EA"/>
            </a:solidFill>
            <a:prstDash val="solid"/>
          </a:ln>
        </p:spPr>
      </p:sp>
      <p:sp>
        <p:nvSpPr>
          <p:cNvPr id="15" name="Shape 12"/>
          <p:cNvSpPr/>
          <p:nvPr/>
        </p:nvSpPr>
        <p:spPr>
          <a:xfrm>
            <a:off x="4663440" y="1188720"/>
            <a:ext cx="1965960" cy="64008"/>
          </a:xfrm>
          <a:prstGeom prst="rect">
            <a:avLst/>
          </a:prstGeom>
          <a:solidFill>
            <a:srgbClr val="2E9E5B"/>
          </a:solidFill>
          <a:ln w="12700">
            <a:solidFill>
              <a:srgbClr val="2E9E5B"/>
            </a:solidFill>
            <a:prstDash val="solid"/>
          </a:ln>
        </p:spPr>
      </p:sp>
      <p:sp>
        <p:nvSpPr>
          <p:cNvPr id="16" name="Text 13"/>
          <p:cNvSpPr txBox="1"/>
          <p:nvPr/>
        </p:nvSpPr>
        <p:spPr>
          <a:xfrm>
            <a:off x="4663440" y="1325880"/>
            <a:ext cx="1965960" cy="320040"/>
          </a:xfrm>
          <a:prstGeom prst="rect">
            <a:avLst/>
          </a:prstGeom>
          <a:noFill/>
          <a:ln/>
        </p:spPr>
        <p:txBody>
          <a:bodyPr wrap="square" rtlCol="0" anchor="ctr"/>
          <a:lstStyle/>
          <a:p>
            <a:pPr marL="0" indent="0" algn="ctr">
              <a:buNone/>
            </a:pPr>
            <a:r>
              <a:rPr lang="en-US" sz="1300" b="1" dirty="0">
                <a:solidFill>
                  <a:srgbClr val="0B2545"/>
                </a:solidFill>
              </a:rPr>
              <a:t>tb_control_unit</a:t>
            </a:r>
            <a:endParaRPr lang="en-US" sz="1300" dirty="0"/>
          </a:p>
        </p:txBody>
      </p:sp>
      <p:sp>
        <p:nvSpPr>
          <p:cNvPr id="17" name="Text 14"/>
          <p:cNvSpPr txBox="1"/>
          <p:nvPr/>
        </p:nvSpPr>
        <p:spPr>
          <a:xfrm>
            <a:off x="4663440" y="1691640"/>
            <a:ext cx="1965960" cy="640080"/>
          </a:xfrm>
          <a:prstGeom prst="rect">
            <a:avLst/>
          </a:prstGeom>
          <a:noFill/>
          <a:ln/>
        </p:spPr>
        <p:txBody>
          <a:bodyPr wrap="square" rtlCol="0" anchor="ctr"/>
          <a:lstStyle/>
          <a:p>
            <a:pPr marL="0" indent="0" algn="ctr">
              <a:buNone/>
            </a:pPr>
            <a:r>
              <a:rPr lang="en-US" sz="3000" b="1" dirty="0">
                <a:solidFill>
                  <a:srgbClr val="2E9E5B"/>
                </a:solidFill>
              </a:rPr>
              <a:t>22 / 22</a:t>
            </a:r>
            <a:endParaRPr lang="en-US" sz="3000" dirty="0"/>
          </a:p>
        </p:txBody>
      </p:sp>
      <p:sp>
        <p:nvSpPr>
          <p:cNvPr id="18" name="Text 15"/>
          <p:cNvSpPr txBox="1"/>
          <p:nvPr/>
        </p:nvSpPr>
        <p:spPr>
          <a:xfrm>
            <a:off x="4663440" y="2423160"/>
            <a:ext cx="1965960" cy="320040"/>
          </a:xfrm>
          <a:prstGeom prst="rect">
            <a:avLst/>
          </a:prstGeom>
          <a:noFill/>
          <a:ln/>
        </p:spPr>
        <p:txBody>
          <a:bodyPr wrap="square" rtlCol="0" anchor="ctr"/>
          <a:lstStyle/>
          <a:p>
            <a:pPr marL="0" indent="0" algn="ctr">
              <a:buNone/>
            </a:pPr>
            <a:r>
              <a:rPr lang="en-US" sz="1100" dirty="0">
                <a:solidFill>
                  <a:srgbClr val="1B1F2A"/>
                </a:solidFill>
              </a:rPr>
              <a:t>PASSED @ 22 ns</a:t>
            </a:r>
            <a:endParaRPr lang="en-US" sz="1100" dirty="0"/>
          </a:p>
        </p:txBody>
      </p:sp>
      <p:sp>
        <p:nvSpPr>
          <p:cNvPr id="19" name="Shape 16"/>
          <p:cNvSpPr/>
          <p:nvPr/>
        </p:nvSpPr>
        <p:spPr>
          <a:xfrm>
            <a:off x="6766560" y="1188720"/>
            <a:ext cx="1965960" cy="1737360"/>
          </a:xfrm>
          <a:prstGeom prst="rect">
            <a:avLst/>
          </a:prstGeom>
          <a:solidFill>
            <a:srgbClr val="FFFFFF"/>
          </a:solidFill>
          <a:ln w="9525">
            <a:solidFill>
              <a:srgbClr val="DDE3EA"/>
            </a:solidFill>
            <a:prstDash val="solid"/>
          </a:ln>
        </p:spPr>
      </p:sp>
      <p:sp>
        <p:nvSpPr>
          <p:cNvPr id="20" name="Shape 17"/>
          <p:cNvSpPr/>
          <p:nvPr/>
        </p:nvSpPr>
        <p:spPr>
          <a:xfrm>
            <a:off x="6766560" y="1188720"/>
            <a:ext cx="1965960" cy="64008"/>
          </a:xfrm>
          <a:prstGeom prst="rect">
            <a:avLst/>
          </a:prstGeom>
          <a:solidFill>
            <a:srgbClr val="2E9E5B"/>
          </a:solidFill>
          <a:ln w="12700">
            <a:solidFill>
              <a:srgbClr val="2E9E5B"/>
            </a:solidFill>
            <a:prstDash val="solid"/>
          </a:ln>
        </p:spPr>
      </p:sp>
      <p:sp>
        <p:nvSpPr>
          <p:cNvPr id="21" name="Text 18"/>
          <p:cNvSpPr txBox="1"/>
          <p:nvPr/>
        </p:nvSpPr>
        <p:spPr>
          <a:xfrm>
            <a:off x="6766560" y="1325880"/>
            <a:ext cx="1965960" cy="320040"/>
          </a:xfrm>
          <a:prstGeom prst="rect">
            <a:avLst/>
          </a:prstGeom>
          <a:noFill/>
          <a:ln/>
        </p:spPr>
        <p:txBody>
          <a:bodyPr wrap="square" rtlCol="0" anchor="ctr"/>
          <a:lstStyle/>
          <a:p>
            <a:pPr marL="0" indent="0" algn="ctr">
              <a:buNone/>
            </a:pPr>
            <a:r>
              <a:rPr lang="en-US" sz="1300" b="1" dirty="0">
                <a:solidFill>
                  <a:srgbClr val="0B2545"/>
                </a:solidFill>
              </a:rPr>
              <a:t>tb_cpu</a:t>
            </a:r>
            <a:endParaRPr lang="en-US" sz="1300" dirty="0"/>
          </a:p>
        </p:txBody>
      </p:sp>
      <p:sp>
        <p:nvSpPr>
          <p:cNvPr id="22" name="Text 19"/>
          <p:cNvSpPr txBox="1"/>
          <p:nvPr/>
        </p:nvSpPr>
        <p:spPr>
          <a:xfrm>
            <a:off x="6766560" y="1691640"/>
            <a:ext cx="1965960" cy="640080"/>
          </a:xfrm>
          <a:prstGeom prst="rect">
            <a:avLst/>
          </a:prstGeom>
          <a:noFill/>
          <a:ln/>
        </p:spPr>
        <p:txBody>
          <a:bodyPr wrap="square" rtlCol="0" anchor="ctr"/>
          <a:lstStyle/>
          <a:p>
            <a:pPr marL="0" indent="0" algn="ctr">
              <a:buNone/>
            </a:pPr>
            <a:r>
              <a:rPr lang="en-US" sz="3000" b="1" dirty="0">
                <a:solidFill>
                  <a:srgbClr val="2E9E5B"/>
                </a:solidFill>
              </a:rPr>
              <a:t>44 / 44</a:t>
            </a:r>
            <a:endParaRPr lang="en-US" sz="3000" dirty="0"/>
          </a:p>
        </p:txBody>
      </p:sp>
      <p:sp>
        <p:nvSpPr>
          <p:cNvPr id="23" name="Text 20"/>
          <p:cNvSpPr txBox="1"/>
          <p:nvPr/>
        </p:nvSpPr>
        <p:spPr>
          <a:xfrm>
            <a:off x="6766560" y="2423160"/>
            <a:ext cx="1965960" cy="320040"/>
          </a:xfrm>
          <a:prstGeom prst="rect">
            <a:avLst/>
          </a:prstGeom>
          <a:noFill/>
          <a:ln/>
        </p:spPr>
        <p:txBody>
          <a:bodyPr wrap="square" rtlCol="0" anchor="ctr"/>
          <a:lstStyle/>
          <a:p>
            <a:pPr marL="0" indent="0" algn="ctr">
              <a:buNone/>
            </a:pPr>
            <a:r>
              <a:rPr lang="en-US" sz="1100" dirty="0">
                <a:solidFill>
                  <a:srgbClr val="1B1F2A"/>
                </a:solidFill>
              </a:rPr>
              <a:t>PASSED @ 666 ns</a:t>
            </a:r>
            <a:endParaRPr lang="en-US" sz="1100" dirty="0"/>
          </a:p>
        </p:txBody>
      </p:sp>
      <p:sp>
        <p:nvSpPr>
          <p:cNvPr id="24" name="Shape 21"/>
          <p:cNvSpPr/>
          <p:nvPr/>
        </p:nvSpPr>
        <p:spPr>
          <a:xfrm>
            <a:off x="457200" y="3154680"/>
            <a:ext cx="8229600" cy="640080"/>
          </a:xfrm>
          <a:prstGeom prst="rect">
            <a:avLst/>
          </a:prstGeom>
          <a:solidFill>
            <a:srgbClr val="0B2545"/>
          </a:solidFill>
          <a:ln w="12700">
            <a:solidFill>
              <a:srgbClr val="0B2545"/>
            </a:solidFill>
            <a:prstDash val="solid"/>
          </a:ln>
        </p:spPr>
      </p:sp>
      <p:sp>
        <p:nvSpPr>
          <p:cNvPr id="25" name="Text 22"/>
          <p:cNvSpPr txBox="1"/>
          <p:nvPr/>
        </p:nvSpPr>
        <p:spPr>
          <a:xfrm>
            <a:off x="457200" y="3154680"/>
            <a:ext cx="8229600" cy="640080"/>
          </a:xfrm>
          <a:prstGeom prst="rect">
            <a:avLst/>
          </a:prstGeom>
          <a:noFill/>
          <a:ln/>
        </p:spPr>
        <p:txBody>
          <a:bodyPr wrap="square" rtlCol="0" anchor="ctr"/>
          <a:lstStyle/>
          <a:p>
            <a:pPr marL="0" indent="0" algn="ctr">
              <a:buNone/>
            </a:pPr>
            <a:r>
              <a:rPr lang="en-US" sz="2000" b="1" dirty="0">
                <a:solidFill>
                  <a:srgbClr val="FFFFFF"/>
                </a:solidFill>
              </a:rPr>
              <a:t>Total: 88 / 88 checks PASSED  (100% pass rate)</a:t>
            </a:r>
            <a:endParaRPr lang="en-US" sz="2000" dirty="0"/>
          </a:p>
        </p:txBody>
      </p:sp>
      <p:sp>
        <p:nvSpPr>
          <p:cNvPr id="26" name="Text 23"/>
          <p:cNvSpPr txBox="1"/>
          <p:nvPr/>
        </p:nvSpPr>
        <p:spPr>
          <a:xfrm>
            <a:off x="457200" y="3977640"/>
            <a:ext cx="8229600" cy="548640"/>
          </a:xfrm>
          <a:prstGeom prst="rect">
            <a:avLst/>
          </a:prstGeom>
          <a:noFill/>
          <a:ln/>
        </p:spPr>
        <p:txBody>
          <a:bodyPr wrap="square" lIns="0" tIns="0" rIns="0" bIns="0" rtlCol="0" anchor="ctr"/>
          <a:lstStyle/>
          <a:p>
            <a:pPr marL="0" indent="0">
              <a:buNone/>
            </a:pPr>
            <a:r>
              <a:rPr lang="en-US" sz="1200" dirty="0">
                <a:solidFill>
                  <a:srgbClr val="1B1F2A"/>
                </a:solidFill>
              </a:rPr>
              <a:t>Evidence: Vivado waveforms and Tcl-console logs for all 4 testbenches; no unknown (X) or high-impedance (Z) values on key outputs or registers after reset.</a:t>
            </a:r>
            <a:endParaRPr lang="en-US" sz="1200" dirty="0"/>
          </a:p>
        </p:txBody>
      </p:sp>
      <p:sp>
        <p:nvSpPr>
          <p:cNvPr id="3"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D99AE"/>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457200" y="109728"/>
            <a:ext cx="8229600" cy="64008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F1 – Sources Window: Design Hierarchy</a:t>
            </a:r>
            <a:endParaRPr lang="en-US" sz="2400" dirty="0"/>
          </a:p>
        </p:txBody>
      </p:sp>
      <p:sp>
        <p:nvSpPr>
          <p:cNvPr id="4" name="Shape 1"/>
          <p:cNvSpPr/>
          <p:nvPr/>
        </p:nvSpPr>
        <p:spPr>
          <a:xfrm>
            <a:off x="438912" y="1124712"/>
            <a:ext cx="5522976" cy="3242255"/>
          </a:xfrm>
          <a:prstGeom prst="rect">
            <a:avLst/>
          </a:prstGeom>
          <a:solidFill>
            <a:srgbClr val="FFFFFF"/>
          </a:solidFill>
          <a:ln w="9525">
            <a:solidFill>
              <a:srgbClr val="DDE3EA"/>
            </a:solidFill>
            <a:prstDash val="solid"/>
          </a:ln>
        </p:spPr>
      </p:sp>
      <p:pic>
        <p:nvPicPr>
          <p:cNvPr id="5" name="Image 0" descr="Figure 1: Sources Window – Design Hierarchy vs Simulation Sources"/>
          <p:cNvPicPr>
            <a:picLocks noChangeAspect="1"/>
          </p:cNvPicPr>
          <p:nvPr/>
        </p:nvPicPr>
        <p:blipFill>
          <a:blip r:embed="rId3"/>
          <a:stretch>
            <a:fillRect/>
          </a:stretch>
        </p:blipFill>
        <p:spPr>
          <a:xfrm>
            <a:off x="457200" y="1143000"/>
            <a:ext cx="5486400" cy="3205679"/>
          </a:xfrm>
          <a:prstGeom prst="rect">
            <a:avLst/>
          </a:prstGeom>
        </p:spPr>
      </p:pic>
      <p:sp>
        <p:nvSpPr>
          <p:cNvPr id="6" name="Text 2"/>
          <p:cNvSpPr txBox="1"/>
          <p:nvPr/>
        </p:nvSpPr>
        <p:spPr>
          <a:xfrm>
            <a:off x="457200" y="4376111"/>
            <a:ext cx="5486400" cy="182880"/>
          </a:xfrm>
          <a:prstGeom prst="rect">
            <a:avLst/>
          </a:prstGeom>
          <a:noFill/>
          <a:ln/>
        </p:spPr>
        <p:txBody>
          <a:bodyPr wrap="square" lIns="0" tIns="0" rIns="0" bIns="0" rtlCol="0" anchor="ctr"/>
          <a:lstStyle/>
          <a:p>
            <a:pPr marL="0" indent="0" algn="ctr">
              <a:buNone/>
            </a:pPr>
            <a:r>
              <a:rPr lang="en-US" sz="900" i="1" dirty="0">
                <a:solidFill>
                  <a:srgbClr val="3E7CB1"/>
                </a:solidFill>
              </a:rPr>
              <a:t>Figure 1: Sources Window – Design Hierarchy vs Simulation Sources</a:t>
            </a:r>
            <a:endParaRPr lang="en-US" sz="900" dirty="0"/>
          </a:p>
        </p:txBody>
      </p:sp>
      <p:sp>
        <p:nvSpPr>
          <p:cNvPr id="7" name="card14"/>
          <p:cNvSpPr/>
          <p:nvPr/>
        </p:nvSpPr>
        <p:spPr>
          <a:xfrm>
            <a:off x="6172200" y="1143000"/>
            <a:ext cx="2514600" cy="3291840"/>
          </a:xfrm>
          <a:prstGeom prst="rect">
            <a:avLst/>
          </a:prstGeom>
          <a:solidFill>
            <a:srgbClr val="FFFFFF"/>
          </a:solidFill>
          <a:ln w="9525">
            <a:solidFill>
              <a:srgbClr val="DDE3EA"/>
            </a:solidFill>
            <a:prstDash val="solid"/>
          </a:ln>
        </p:spPr>
      </p:sp>
      <p:sp>
        <p:nvSpPr>
          <p:cNvPr id="8" name="Shape 4"/>
          <p:cNvSpPr/>
          <p:nvPr/>
        </p:nvSpPr>
        <p:spPr>
          <a:xfrm>
            <a:off x="6172200" y="1143000"/>
            <a:ext cx="64008" cy="3291840"/>
          </a:xfrm>
          <a:prstGeom prst="rect">
            <a:avLst/>
          </a:prstGeom>
          <a:solidFill>
            <a:srgbClr val="13A89E"/>
          </a:solidFill>
          <a:ln w="12700">
            <a:solidFill>
              <a:srgbClr val="13A89E"/>
            </a:solidFill>
            <a:prstDash val="solid"/>
          </a:ln>
        </p:spPr>
      </p:sp>
      <p:sp>
        <p:nvSpPr>
          <p:cNvPr id="9" name="Text 5"/>
          <p:cNvSpPr txBox="1"/>
          <p:nvPr/>
        </p:nvSpPr>
        <p:spPr>
          <a:xfrm>
            <a:off x="6355080" y="1216152"/>
            <a:ext cx="2240280" cy="320040"/>
          </a:xfrm>
          <a:prstGeom prst="rect">
            <a:avLst/>
          </a:prstGeom>
          <a:noFill/>
          <a:ln/>
        </p:spPr>
        <p:txBody>
          <a:bodyPr wrap="square" lIns="0" tIns="0" rIns="0" bIns="0" rtlCol="0" anchor="ctr"/>
          <a:lstStyle/>
          <a:p>
            <a:pPr marL="0" indent="0">
              <a:buNone/>
            </a:pPr>
            <a:r>
              <a:rPr lang="en-US" sz="1300" b="1" dirty="0">
                <a:solidFill>
                  <a:srgbClr val="0B2545"/>
                </a:solidFill>
              </a:rPr>
              <a:t>Hierarchy</a:t>
            </a:r>
            <a:endParaRPr lang="en-US" sz="1300" dirty="0"/>
          </a:p>
        </p:txBody>
      </p:sp>
      <p:sp>
        <p:nvSpPr>
          <p:cNvPr id="10" name="Text 6"/>
          <p:cNvSpPr txBox="1"/>
          <p:nvPr/>
        </p:nvSpPr>
        <p:spPr>
          <a:xfrm>
            <a:off x="6355080" y="1554480"/>
            <a:ext cx="2240280" cy="2834640"/>
          </a:xfrm>
          <a:prstGeom prst="rect">
            <a:avLst/>
          </a:prstGeom>
          <a:noFill/>
          <a:ln/>
        </p:spPr>
        <p:txBody>
          <a:bodyPr wrap="square" lIns="0" tIns="0" rIns="0" bIns="0" rtlCol="0" anchor="t"/>
          <a:lstStyle/>
          <a:p>
            <a:pPr marL="0" indent="0">
              <a:buNone/>
            </a:pPr>
            <a:r>
              <a:rPr lang="en-US" sz="1100" dirty="0">
                <a:solidFill>
                  <a:srgbClr val="1B1F2A"/>
                </a:solidFill>
              </a:rPr>
              <a:t>Top: cpu_top</a:t>
            </a:r>
            <a:endParaRPr lang="en-US" sz="1100" dirty="0"/>
          </a:p>
          <a:p>
            <a:pPr marL="0" indent="0">
              <a:buNone/>
            </a:pPr>
            <a:r>
              <a:rPr lang="en-US" sz="1100" dirty="0">
                <a:solidFill>
                  <a:srgbClr val="1B1F2A"/>
                </a:solidFill>
              </a:rPr>
              <a:t>PC_REG · IMEM · IR · CU</a:t>
            </a:r>
            <a:endParaRPr lang="en-US" sz="1100" dirty="0"/>
          </a:p>
          <a:p>
            <a:pPr marL="0" indent="0">
              <a:buNone/>
            </a:pPr>
            <a:r>
              <a:rPr lang="en-US" sz="1100" dirty="0">
                <a:solidFill>
                  <a:srgbClr val="1B1F2A"/>
                </a:solidFill>
              </a:rPr>
              <a:t>ID_EX · RF · ALU_CORE</a:t>
            </a:r>
            <a:endParaRPr lang="en-US" sz="1100" dirty="0"/>
          </a:p>
          <a:p>
            <a:pPr marL="0" indent="0">
              <a:buNone/>
            </a:pPr>
            <a:r>
              <a:rPr lang="en-US" sz="1100" dirty="0">
                <a:solidFill>
                  <a:srgbClr val="1B1F2A"/>
                </a:solidFill>
              </a:rPr>
              <a:t>FLAGS · DMEM</a:t>
            </a:r>
            <a:endParaRPr lang="en-US" sz="1100" dirty="0"/>
          </a:p>
          <a:p>
            <a:pPr marL="0" indent="0">
              <a:buNone/>
            </a:pPr>
            <a:r>
              <a:rPr lang="en-US" sz="1100" dirty="0">
                <a:solidFill>
                  <a:srgbClr val="1B1F2A"/>
                </a:solidFill>
              </a:rPr>
              <a:t>3 × mux2: PC_MUX, OPERAND_MUX, WB_MUX</a:t>
            </a:r>
            <a:endParaRPr lang="en-US" sz="1100" dirty="0"/>
          </a:p>
          <a:p>
            <a:pPr marL="0" indent="0">
              <a:buNone/>
            </a:pPr>
            <a:endParaRPr lang="en-US" sz="1100" dirty="0"/>
          </a:p>
          <a:p>
            <a:pPr marL="0" indent="0">
              <a:buNone/>
            </a:pPr>
            <a:r>
              <a:rPr lang="en-US" sz="1100" dirty="0">
                <a:solidFill>
                  <a:srgbClr val="1B1F2A"/>
                </a:solidFill>
              </a:rPr>
              <a:t>Simulation Sources:</a:t>
            </a:r>
            <a:endParaRPr lang="en-US" sz="1100" dirty="0"/>
          </a:p>
          <a:p>
            <a:pPr marL="0" indent="0">
              <a:buNone/>
            </a:pPr>
            <a:r>
              <a:rPr lang="en-US" sz="1100" dirty="0">
                <a:solidFill>
                  <a:srgbClr val="1B1F2A"/>
                </a:solidFill>
              </a:rPr>
              <a:t>4 testbenches + 4 .mem files</a:t>
            </a:r>
            <a:endParaRPr lang="en-US" sz="11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D99AE"/>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457200" y="109728"/>
            <a:ext cx="8229600" cy="64008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F2 – Behavioral Simulation Waveforms</a:t>
            </a:r>
            <a:endParaRPr lang="en-US" sz="2400" dirty="0"/>
          </a:p>
        </p:txBody>
      </p:sp>
      <p:sp>
        <p:nvSpPr>
          <p:cNvPr id="4" name="Shape 1"/>
          <p:cNvSpPr/>
          <p:nvPr/>
        </p:nvSpPr>
        <p:spPr>
          <a:xfrm>
            <a:off x="896112" y="987552"/>
            <a:ext cx="2962656" cy="1753029"/>
          </a:xfrm>
          <a:prstGeom prst="rect">
            <a:avLst/>
          </a:prstGeom>
          <a:solidFill>
            <a:srgbClr val="FFFFFF"/>
          </a:solidFill>
          <a:ln w="9525">
            <a:solidFill>
              <a:srgbClr val="DDE3EA"/>
            </a:solidFill>
            <a:prstDash val="solid"/>
          </a:ln>
        </p:spPr>
      </p:sp>
      <p:pic>
        <p:nvPicPr>
          <p:cNvPr id="5" name="Image 0" descr="Fig. 2 – tb_alu"/>
          <p:cNvPicPr>
            <a:picLocks noChangeAspect="1"/>
          </p:cNvPicPr>
          <p:nvPr/>
        </p:nvPicPr>
        <p:blipFill>
          <a:blip r:embed="rId3"/>
          <a:stretch>
            <a:fillRect/>
          </a:stretch>
        </p:blipFill>
        <p:spPr>
          <a:xfrm>
            <a:off x="914400" y="1005840"/>
            <a:ext cx="2926080" cy="1716453"/>
          </a:xfrm>
          <a:prstGeom prst="rect">
            <a:avLst/>
          </a:prstGeom>
        </p:spPr>
      </p:pic>
      <p:sp>
        <p:nvSpPr>
          <p:cNvPr id="6" name="Text 2"/>
          <p:cNvSpPr txBox="1"/>
          <p:nvPr/>
        </p:nvSpPr>
        <p:spPr>
          <a:xfrm>
            <a:off x="914400" y="2749725"/>
            <a:ext cx="2926080" cy="182880"/>
          </a:xfrm>
          <a:prstGeom prst="rect">
            <a:avLst/>
          </a:prstGeom>
          <a:noFill/>
          <a:ln/>
        </p:spPr>
        <p:txBody>
          <a:bodyPr wrap="square" lIns="0" tIns="0" rIns="0" bIns="0" rtlCol="0" anchor="ctr"/>
          <a:lstStyle/>
          <a:p>
            <a:pPr marL="0" indent="0" algn="ctr">
              <a:buNone/>
            </a:pPr>
            <a:r>
              <a:rPr lang="en-US" sz="900" i="1" dirty="0">
                <a:solidFill>
                  <a:srgbClr val="3E7CB1"/>
                </a:solidFill>
              </a:rPr>
              <a:t>Fig. 2 – tb_alu</a:t>
            </a:r>
            <a:endParaRPr lang="en-US" sz="900" dirty="0"/>
          </a:p>
        </p:txBody>
      </p:sp>
      <p:sp>
        <p:nvSpPr>
          <p:cNvPr id="7" name="Shape 3"/>
          <p:cNvSpPr/>
          <p:nvPr/>
        </p:nvSpPr>
        <p:spPr>
          <a:xfrm>
            <a:off x="4919472" y="987552"/>
            <a:ext cx="2962656" cy="1791323"/>
          </a:xfrm>
          <a:prstGeom prst="rect">
            <a:avLst/>
          </a:prstGeom>
          <a:solidFill>
            <a:srgbClr val="FFFFFF"/>
          </a:solidFill>
          <a:ln w="9525">
            <a:solidFill>
              <a:srgbClr val="DDE3EA"/>
            </a:solidFill>
            <a:prstDash val="solid"/>
          </a:ln>
        </p:spPr>
      </p:sp>
      <p:pic>
        <p:nvPicPr>
          <p:cNvPr id="8" name="Image 1" descr="Fig. 3 – tb_control_unit"/>
          <p:cNvPicPr>
            <a:picLocks noChangeAspect="1"/>
          </p:cNvPicPr>
          <p:nvPr/>
        </p:nvPicPr>
        <p:blipFill>
          <a:blip r:embed="rId4"/>
          <a:stretch>
            <a:fillRect/>
          </a:stretch>
        </p:blipFill>
        <p:spPr>
          <a:xfrm>
            <a:off x="4937760" y="1005840"/>
            <a:ext cx="2926080" cy="1754747"/>
          </a:xfrm>
          <a:prstGeom prst="rect">
            <a:avLst/>
          </a:prstGeom>
        </p:spPr>
      </p:pic>
      <p:sp>
        <p:nvSpPr>
          <p:cNvPr id="9" name="Text 4"/>
          <p:cNvSpPr txBox="1"/>
          <p:nvPr/>
        </p:nvSpPr>
        <p:spPr>
          <a:xfrm>
            <a:off x="4937760" y="2788019"/>
            <a:ext cx="2926080" cy="182880"/>
          </a:xfrm>
          <a:prstGeom prst="rect">
            <a:avLst/>
          </a:prstGeom>
          <a:noFill/>
          <a:ln/>
        </p:spPr>
        <p:txBody>
          <a:bodyPr wrap="square" lIns="0" tIns="0" rIns="0" bIns="0" rtlCol="0" anchor="ctr"/>
          <a:lstStyle/>
          <a:p>
            <a:pPr marL="0" indent="0" algn="ctr">
              <a:buNone/>
            </a:pPr>
            <a:r>
              <a:rPr lang="en-US" sz="900" i="1" dirty="0">
                <a:solidFill>
                  <a:srgbClr val="3E7CB1"/>
                </a:solidFill>
              </a:rPr>
              <a:t>Fig. 3 – tb_control_unit</a:t>
            </a:r>
            <a:endParaRPr lang="en-US" sz="900" dirty="0"/>
          </a:p>
        </p:txBody>
      </p:sp>
      <p:sp>
        <p:nvSpPr>
          <p:cNvPr id="10" name="Shape 5"/>
          <p:cNvSpPr/>
          <p:nvPr/>
        </p:nvSpPr>
        <p:spPr>
          <a:xfrm>
            <a:off x="896112" y="3044952"/>
            <a:ext cx="2962656" cy="1782313"/>
          </a:xfrm>
          <a:prstGeom prst="rect">
            <a:avLst/>
          </a:prstGeom>
          <a:solidFill>
            <a:srgbClr val="FFFFFF"/>
          </a:solidFill>
          <a:ln w="9525">
            <a:solidFill>
              <a:srgbClr val="DDE3EA"/>
            </a:solidFill>
            <a:prstDash val="solid"/>
          </a:ln>
        </p:spPr>
      </p:sp>
      <p:pic>
        <p:nvPicPr>
          <p:cNvPr id="11" name="Image 2" descr="Fig. 4 – tb_register_file"/>
          <p:cNvPicPr>
            <a:picLocks noChangeAspect="1"/>
          </p:cNvPicPr>
          <p:nvPr/>
        </p:nvPicPr>
        <p:blipFill>
          <a:blip r:embed="rId5"/>
          <a:stretch>
            <a:fillRect/>
          </a:stretch>
        </p:blipFill>
        <p:spPr>
          <a:xfrm>
            <a:off x="914400" y="3063240"/>
            <a:ext cx="2926080" cy="1745737"/>
          </a:xfrm>
          <a:prstGeom prst="rect">
            <a:avLst/>
          </a:prstGeom>
        </p:spPr>
      </p:pic>
      <p:sp>
        <p:nvSpPr>
          <p:cNvPr id="12" name="Text 6"/>
          <p:cNvSpPr txBox="1"/>
          <p:nvPr/>
        </p:nvSpPr>
        <p:spPr>
          <a:xfrm>
            <a:off x="914400" y="4836409"/>
            <a:ext cx="2926080" cy="182880"/>
          </a:xfrm>
          <a:prstGeom prst="rect">
            <a:avLst/>
          </a:prstGeom>
          <a:noFill/>
          <a:ln/>
        </p:spPr>
        <p:txBody>
          <a:bodyPr wrap="square" lIns="0" tIns="0" rIns="0" bIns="0" rtlCol="0" anchor="ctr"/>
          <a:lstStyle/>
          <a:p>
            <a:pPr marL="0" indent="0" algn="ctr">
              <a:buNone/>
            </a:pPr>
            <a:r>
              <a:rPr lang="en-US" sz="900" i="1" dirty="0">
                <a:solidFill>
                  <a:srgbClr val="3E7CB1"/>
                </a:solidFill>
              </a:rPr>
              <a:t>Fig. 4 – tb_register_file</a:t>
            </a:r>
            <a:endParaRPr lang="en-US" sz="900" dirty="0"/>
          </a:p>
        </p:txBody>
      </p:sp>
      <p:sp>
        <p:nvSpPr>
          <p:cNvPr id="13" name="Shape 7"/>
          <p:cNvSpPr/>
          <p:nvPr/>
        </p:nvSpPr>
        <p:spPr>
          <a:xfrm>
            <a:off x="4919472" y="3044952"/>
            <a:ext cx="2962656" cy="1780060"/>
          </a:xfrm>
          <a:prstGeom prst="rect">
            <a:avLst/>
          </a:prstGeom>
          <a:solidFill>
            <a:srgbClr val="FFFFFF"/>
          </a:solidFill>
          <a:ln w="9525">
            <a:solidFill>
              <a:srgbClr val="DDE3EA"/>
            </a:solidFill>
            <a:prstDash val="solid"/>
          </a:ln>
        </p:spPr>
      </p:sp>
      <p:pic>
        <p:nvPicPr>
          <p:cNvPr id="14" name="Image 3" descr="Fig. 5 – tb_cpu (3-stage pipeline)"/>
          <p:cNvPicPr>
            <a:picLocks noChangeAspect="1"/>
          </p:cNvPicPr>
          <p:nvPr/>
        </p:nvPicPr>
        <p:blipFill>
          <a:blip r:embed="rId6"/>
          <a:stretch>
            <a:fillRect/>
          </a:stretch>
        </p:blipFill>
        <p:spPr>
          <a:xfrm>
            <a:off x="4937760" y="3063240"/>
            <a:ext cx="2926080" cy="1743484"/>
          </a:xfrm>
          <a:prstGeom prst="rect">
            <a:avLst/>
          </a:prstGeom>
        </p:spPr>
      </p:pic>
      <p:sp>
        <p:nvSpPr>
          <p:cNvPr id="15" name="Text 8"/>
          <p:cNvSpPr txBox="1"/>
          <p:nvPr/>
        </p:nvSpPr>
        <p:spPr>
          <a:xfrm>
            <a:off x="4937760" y="4834156"/>
            <a:ext cx="2926080" cy="182880"/>
          </a:xfrm>
          <a:prstGeom prst="rect">
            <a:avLst/>
          </a:prstGeom>
          <a:noFill/>
          <a:ln/>
        </p:spPr>
        <p:txBody>
          <a:bodyPr wrap="square" lIns="0" tIns="0" rIns="0" bIns="0" rtlCol="0" anchor="ctr"/>
          <a:lstStyle/>
          <a:p>
            <a:pPr marL="0" indent="0" algn="ctr">
              <a:buNone/>
            </a:pPr>
            <a:r>
              <a:rPr lang="en-US" sz="900" i="1" dirty="0">
                <a:solidFill>
                  <a:srgbClr val="3E7CB1"/>
                </a:solidFill>
              </a:rPr>
              <a:t>Fig. 5 – tb_cpu (3-stage pipeline)</a:t>
            </a:r>
            <a:endParaRPr lang="en-US" sz="9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D99AE"/>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457200" y="109728"/>
            <a:ext cx="8229600" cy="64008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F3 – Tcl Console: Automated PASS Results</a:t>
            </a:r>
            <a:endParaRPr lang="en-US" sz="2400" dirty="0"/>
          </a:p>
        </p:txBody>
      </p:sp>
      <p:sp>
        <p:nvSpPr>
          <p:cNvPr id="4" name="Shape 1"/>
          <p:cNvSpPr/>
          <p:nvPr/>
        </p:nvSpPr>
        <p:spPr>
          <a:xfrm>
            <a:off x="1078992" y="987552"/>
            <a:ext cx="3145536" cy="512852"/>
          </a:xfrm>
          <a:prstGeom prst="rect">
            <a:avLst/>
          </a:prstGeom>
          <a:solidFill>
            <a:srgbClr val="FFFFFF"/>
          </a:solidFill>
          <a:ln w="9525">
            <a:solidFill>
              <a:srgbClr val="DDE3EA"/>
            </a:solidFill>
            <a:prstDash val="solid"/>
          </a:ln>
        </p:spPr>
      </p:sp>
      <p:pic>
        <p:nvPicPr>
          <p:cNvPr id="5" name="Image 0" descr="Fig. 6 – tb_alu"/>
          <p:cNvPicPr>
            <a:picLocks noChangeAspect="1"/>
          </p:cNvPicPr>
          <p:nvPr/>
        </p:nvPicPr>
        <p:blipFill>
          <a:blip r:embed="rId3"/>
          <a:stretch>
            <a:fillRect/>
          </a:stretch>
        </p:blipFill>
        <p:spPr>
          <a:xfrm>
            <a:off x="1097280" y="1005840"/>
            <a:ext cx="3108960" cy="476276"/>
          </a:xfrm>
          <a:prstGeom prst="rect">
            <a:avLst/>
          </a:prstGeom>
        </p:spPr>
      </p:pic>
      <p:sp>
        <p:nvSpPr>
          <p:cNvPr id="6" name="Text 2"/>
          <p:cNvSpPr txBox="1"/>
          <p:nvPr/>
        </p:nvSpPr>
        <p:spPr>
          <a:xfrm>
            <a:off x="1097280" y="1509548"/>
            <a:ext cx="3108960" cy="182880"/>
          </a:xfrm>
          <a:prstGeom prst="rect">
            <a:avLst/>
          </a:prstGeom>
          <a:noFill/>
          <a:ln/>
        </p:spPr>
        <p:txBody>
          <a:bodyPr wrap="square" lIns="0" tIns="0" rIns="0" bIns="0" rtlCol="0" anchor="ctr"/>
          <a:lstStyle/>
          <a:p>
            <a:pPr marL="0" indent="0" algn="ctr">
              <a:buNone/>
            </a:pPr>
            <a:r>
              <a:rPr lang="en-US" sz="900" i="1" dirty="0">
                <a:solidFill>
                  <a:srgbClr val="3E7CB1"/>
                </a:solidFill>
              </a:rPr>
              <a:t>Fig. 6 – tb_alu</a:t>
            </a:r>
            <a:endParaRPr lang="en-US" sz="900" dirty="0"/>
          </a:p>
        </p:txBody>
      </p:sp>
      <p:sp>
        <p:nvSpPr>
          <p:cNvPr id="7" name="Shape 3"/>
          <p:cNvSpPr/>
          <p:nvPr/>
        </p:nvSpPr>
        <p:spPr>
          <a:xfrm>
            <a:off x="1078992" y="1738148"/>
            <a:ext cx="3145536" cy="891001"/>
          </a:xfrm>
          <a:prstGeom prst="rect">
            <a:avLst/>
          </a:prstGeom>
          <a:solidFill>
            <a:srgbClr val="FFFFFF"/>
          </a:solidFill>
          <a:ln w="9525">
            <a:solidFill>
              <a:srgbClr val="DDE3EA"/>
            </a:solidFill>
            <a:prstDash val="solid"/>
          </a:ln>
        </p:spPr>
      </p:sp>
      <p:pic>
        <p:nvPicPr>
          <p:cNvPr id="8" name="Image 1" descr="Fig. 7 – tb_control_unit"/>
          <p:cNvPicPr>
            <a:picLocks noChangeAspect="1"/>
          </p:cNvPicPr>
          <p:nvPr/>
        </p:nvPicPr>
        <p:blipFill>
          <a:blip r:embed="rId4"/>
          <a:stretch>
            <a:fillRect/>
          </a:stretch>
        </p:blipFill>
        <p:spPr>
          <a:xfrm>
            <a:off x="1097280" y="1756436"/>
            <a:ext cx="3108960" cy="854425"/>
          </a:xfrm>
          <a:prstGeom prst="rect">
            <a:avLst/>
          </a:prstGeom>
        </p:spPr>
      </p:pic>
      <p:sp>
        <p:nvSpPr>
          <p:cNvPr id="9" name="Text 4"/>
          <p:cNvSpPr txBox="1"/>
          <p:nvPr/>
        </p:nvSpPr>
        <p:spPr>
          <a:xfrm>
            <a:off x="1097280" y="2638294"/>
            <a:ext cx="3108960" cy="182880"/>
          </a:xfrm>
          <a:prstGeom prst="rect">
            <a:avLst/>
          </a:prstGeom>
          <a:noFill/>
          <a:ln/>
        </p:spPr>
        <p:txBody>
          <a:bodyPr wrap="square" lIns="0" tIns="0" rIns="0" bIns="0" rtlCol="0" anchor="ctr"/>
          <a:lstStyle/>
          <a:p>
            <a:pPr marL="0" indent="0" algn="ctr">
              <a:buNone/>
            </a:pPr>
            <a:r>
              <a:rPr lang="en-US" sz="900" i="1" dirty="0">
                <a:solidFill>
                  <a:srgbClr val="3E7CB1"/>
                </a:solidFill>
              </a:rPr>
              <a:t>Fig. 7 – tb_control_unit</a:t>
            </a:r>
            <a:endParaRPr lang="en-US" sz="900" dirty="0"/>
          </a:p>
        </p:txBody>
      </p:sp>
      <p:sp>
        <p:nvSpPr>
          <p:cNvPr id="10" name="Shape 5"/>
          <p:cNvSpPr/>
          <p:nvPr/>
        </p:nvSpPr>
        <p:spPr>
          <a:xfrm>
            <a:off x="1078992" y="2866894"/>
            <a:ext cx="3145536" cy="505672"/>
          </a:xfrm>
          <a:prstGeom prst="rect">
            <a:avLst/>
          </a:prstGeom>
          <a:solidFill>
            <a:srgbClr val="FFFFFF"/>
          </a:solidFill>
          <a:ln w="9525">
            <a:solidFill>
              <a:srgbClr val="DDE3EA"/>
            </a:solidFill>
            <a:prstDash val="solid"/>
          </a:ln>
        </p:spPr>
      </p:sp>
      <p:pic>
        <p:nvPicPr>
          <p:cNvPr id="11" name="Image 2" descr="Fig. 8 – tb_register_file"/>
          <p:cNvPicPr>
            <a:picLocks noChangeAspect="1"/>
          </p:cNvPicPr>
          <p:nvPr/>
        </p:nvPicPr>
        <p:blipFill>
          <a:blip r:embed="rId5"/>
          <a:stretch>
            <a:fillRect/>
          </a:stretch>
        </p:blipFill>
        <p:spPr>
          <a:xfrm>
            <a:off x="1097280" y="2885182"/>
            <a:ext cx="3108960" cy="469096"/>
          </a:xfrm>
          <a:prstGeom prst="rect">
            <a:avLst/>
          </a:prstGeom>
        </p:spPr>
      </p:pic>
      <p:sp>
        <p:nvSpPr>
          <p:cNvPr id="12" name="Text 6"/>
          <p:cNvSpPr txBox="1"/>
          <p:nvPr/>
        </p:nvSpPr>
        <p:spPr>
          <a:xfrm>
            <a:off x="1097280" y="3381710"/>
            <a:ext cx="3108960" cy="182880"/>
          </a:xfrm>
          <a:prstGeom prst="rect">
            <a:avLst/>
          </a:prstGeom>
          <a:noFill/>
          <a:ln/>
        </p:spPr>
        <p:txBody>
          <a:bodyPr wrap="square" lIns="0" tIns="0" rIns="0" bIns="0" rtlCol="0" anchor="ctr"/>
          <a:lstStyle/>
          <a:p>
            <a:pPr marL="0" indent="0" algn="ctr">
              <a:buNone/>
            </a:pPr>
            <a:r>
              <a:rPr lang="en-US" sz="900" i="1" dirty="0">
                <a:solidFill>
                  <a:srgbClr val="3E7CB1"/>
                </a:solidFill>
              </a:rPr>
              <a:t>Fig. 8 – tb_register_file</a:t>
            </a:r>
            <a:endParaRPr lang="en-US" sz="900" dirty="0"/>
          </a:p>
        </p:txBody>
      </p:sp>
      <p:sp>
        <p:nvSpPr>
          <p:cNvPr id="13" name="Shape 7"/>
          <p:cNvSpPr/>
          <p:nvPr/>
        </p:nvSpPr>
        <p:spPr>
          <a:xfrm>
            <a:off x="1078992" y="3610310"/>
            <a:ext cx="3145536" cy="728254"/>
          </a:xfrm>
          <a:prstGeom prst="rect">
            <a:avLst/>
          </a:prstGeom>
          <a:solidFill>
            <a:srgbClr val="FFFFFF"/>
          </a:solidFill>
          <a:ln w="9525">
            <a:solidFill>
              <a:srgbClr val="DDE3EA"/>
            </a:solidFill>
            <a:prstDash val="solid"/>
          </a:ln>
        </p:spPr>
      </p:sp>
      <p:pic>
        <p:nvPicPr>
          <p:cNvPr id="14" name="Image 3" descr="Fig. 9 – tb_cpu Test 1"/>
          <p:cNvPicPr>
            <a:picLocks noChangeAspect="1"/>
          </p:cNvPicPr>
          <p:nvPr/>
        </p:nvPicPr>
        <p:blipFill>
          <a:blip r:embed="rId6"/>
          <a:stretch>
            <a:fillRect/>
          </a:stretch>
        </p:blipFill>
        <p:spPr>
          <a:xfrm>
            <a:off x="1097280" y="3628598"/>
            <a:ext cx="3108960" cy="691678"/>
          </a:xfrm>
          <a:prstGeom prst="rect">
            <a:avLst/>
          </a:prstGeom>
        </p:spPr>
      </p:pic>
      <p:sp>
        <p:nvSpPr>
          <p:cNvPr id="15" name="Text 8"/>
          <p:cNvSpPr txBox="1"/>
          <p:nvPr/>
        </p:nvSpPr>
        <p:spPr>
          <a:xfrm>
            <a:off x="1097280" y="4347708"/>
            <a:ext cx="3108960" cy="182880"/>
          </a:xfrm>
          <a:prstGeom prst="rect">
            <a:avLst/>
          </a:prstGeom>
          <a:noFill/>
          <a:ln/>
        </p:spPr>
        <p:txBody>
          <a:bodyPr wrap="square" lIns="0" tIns="0" rIns="0" bIns="0" rtlCol="0" anchor="ctr"/>
          <a:lstStyle/>
          <a:p>
            <a:pPr marL="0" indent="0" algn="ctr">
              <a:buNone/>
            </a:pPr>
            <a:r>
              <a:rPr lang="en-US" sz="900" i="1" dirty="0">
                <a:solidFill>
                  <a:srgbClr val="3E7CB1"/>
                </a:solidFill>
              </a:rPr>
              <a:t>Fig. 9 – tb_cpu Test 1</a:t>
            </a:r>
            <a:endParaRPr lang="en-US" sz="900" dirty="0"/>
          </a:p>
        </p:txBody>
      </p:sp>
      <p:sp>
        <p:nvSpPr>
          <p:cNvPr id="16" name="Shape 9"/>
          <p:cNvSpPr/>
          <p:nvPr/>
        </p:nvSpPr>
        <p:spPr>
          <a:xfrm>
            <a:off x="4919472" y="987552"/>
            <a:ext cx="3145536" cy="845528"/>
          </a:xfrm>
          <a:prstGeom prst="rect">
            <a:avLst/>
          </a:prstGeom>
          <a:solidFill>
            <a:srgbClr val="FFFFFF"/>
          </a:solidFill>
          <a:ln w="9525">
            <a:solidFill>
              <a:srgbClr val="DDE3EA"/>
            </a:solidFill>
            <a:prstDash val="solid"/>
          </a:ln>
        </p:spPr>
      </p:sp>
      <p:pic>
        <p:nvPicPr>
          <p:cNvPr id="17" name="Image 4" descr="Fig. 10 – tb_cpu Test 2"/>
          <p:cNvPicPr>
            <a:picLocks noChangeAspect="1"/>
          </p:cNvPicPr>
          <p:nvPr/>
        </p:nvPicPr>
        <p:blipFill>
          <a:blip r:embed="rId7"/>
          <a:stretch>
            <a:fillRect/>
          </a:stretch>
        </p:blipFill>
        <p:spPr>
          <a:xfrm>
            <a:off x="4937760" y="1005840"/>
            <a:ext cx="3108960" cy="808952"/>
          </a:xfrm>
          <a:prstGeom prst="rect">
            <a:avLst/>
          </a:prstGeom>
        </p:spPr>
      </p:pic>
      <p:sp>
        <p:nvSpPr>
          <p:cNvPr id="18" name="Text 10"/>
          <p:cNvSpPr txBox="1"/>
          <p:nvPr/>
        </p:nvSpPr>
        <p:spPr>
          <a:xfrm>
            <a:off x="4937760" y="1842224"/>
            <a:ext cx="3108960" cy="182880"/>
          </a:xfrm>
          <a:prstGeom prst="rect">
            <a:avLst/>
          </a:prstGeom>
          <a:noFill/>
          <a:ln/>
        </p:spPr>
        <p:txBody>
          <a:bodyPr wrap="square" lIns="0" tIns="0" rIns="0" bIns="0" rtlCol="0" anchor="ctr"/>
          <a:lstStyle/>
          <a:p>
            <a:pPr marL="0" indent="0" algn="ctr">
              <a:buNone/>
            </a:pPr>
            <a:r>
              <a:rPr lang="en-US" sz="900" i="1" dirty="0">
                <a:solidFill>
                  <a:srgbClr val="3E7CB1"/>
                </a:solidFill>
              </a:rPr>
              <a:t>Fig. 10 – tb_cpu Test 2</a:t>
            </a:r>
            <a:endParaRPr lang="en-US" sz="900" dirty="0"/>
          </a:p>
        </p:txBody>
      </p:sp>
      <p:pic>
        <p:nvPicPr>
          <p:cNvPr id="20" name="Image 5" descr="Fig. 11 – tb_cpu Test 3"/>
          <p:cNvPicPr>
            <a:picLocks noChangeAspect="1"/>
          </p:cNvPicPr>
          <p:nvPr/>
        </p:nvPicPr>
        <p:blipFill>
          <a:blip r:embed="rId8"/>
          <a:stretch>
            <a:fillRect/>
          </a:stretch>
        </p:blipFill>
        <p:spPr>
          <a:xfrm>
            <a:off x="4956048" y="3162507"/>
            <a:ext cx="3108960" cy="804165"/>
          </a:xfrm>
          <a:prstGeom prst="rect">
            <a:avLst/>
          </a:prstGeom>
        </p:spPr>
      </p:pic>
      <p:sp>
        <p:nvSpPr>
          <p:cNvPr id="21" name="Text 12"/>
          <p:cNvSpPr txBox="1"/>
          <p:nvPr/>
        </p:nvSpPr>
        <p:spPr>
          <a:xfrm>
            <a:off x="4937760" y="2920709"/>
            <a:ext cx="3108960" cy="182880"/>
          </a:xfrm>
          <a:prstGeom prst="rect">
            <a:avLst/>
          </a:prstGeom>
          <a:noFill/>
          <a:ln/>
        </p:spPr>
        <p:txBody>
          <a:bodyPr wrap="square" lIns="0" tIns="0" rIns="0" bIns="0" rtlCol="0" anchor="ctr"/>
          <a:lstStyle/>
          <a:p>
            <a:pPr marL="0" indent="0" algn="ctr">
              <a:buNone/>
            </a:pPr>
            <a:r>
              <a:rPr lang="en-US" sz="900" i="1" dirty="0">
                <a:solidFill>
                  <a:srgbClr val="3E7CB1"/>
                </a:solidFill>
              </a:rPr>
              <a:t>Fig. 11 – tb_cpu Test 3</a:t>
            </a:r>
            <a:endParaRPr lang="en-US" sz="900" dirty="0"/>
          </a:p>
        </p:txBody>
      </p:sp>
      <p:pic>
        <p:nvPicPr>
          <p:cNvPr id="23" name="Image 6" descr="Fig. 12 – tb_cpu Test 4"/>
          <p:cNvPicPr>
            <a:picLocks noChangeAspect="1"/>
          </p:cNvPicPr>
          <p:nvPr/>
        </p:nvPicPr>
        <p:blipFill>
          <a:blip r:embed="rId9"/>
          <a:stretch>
            <a:fillRect/>
          </a:stretch>
        </p:blipFill>
        <p:spPr>
          <a:xfrm>
            <a:off x="4956048" y="4242950"/>
            <a:ext cx="3108960" cy="557650"/>
          </a:xfrm>
          <a:prstGeom prst="rect">
            <a:avLst/>
          </a:prstGeom>
        </p:spPr>
      </p:pic>
      <p:sp>
        <p:nvSpPr>
          <p:cNvPr id="24" name="Text 14"/>
          <p:cNvSpPr txBox="1"/>
          <p:nvPr/>
        </p:nvSpPr>
        <p:spPr>
          <a:xfrm>
            <a:off x="4937760" y="3973068"/>
            <a:ext cx="3108960" cy="182880"/>
          </a:xfrm>
          <a:prstGeom prst="rect">
            <a:avLst/>
          </a:prstGeom>
          <a:noFill/>
          <a:ln/>
        </p:spPr>
        <p:txBody>
          <a:bodyPr wrap="square" lIns="0" tIns="0" rIns="0" bIns="0" rtlCol="0" anchor="ctr"/>
          <a:lstStyle/>
          <a:p>
            <a:pPr marL="0" indent="0" algn="ctr">
              <a:buNone/>
            </a:pPr>
            <a:r>
              <a:rPr lang="en-US" sz="900" i="1" dirty="0">
                <a:solidFill>
                  <a:srgbClr val="3E7CB1"/>
                </a:solidFill>
              </a:rPr>
              <a:t>Fig. 12 – tb_cpu Test 4</a:t>
            </a:r>
            <a:endParaRPr lang="en-US" sz="900" dirty="0"/>
          </a:p>
        </p:txBody>
      </p:sp>
      <p:pic>
        <p:nvPicPr>
          <p:cNvPr id="26" name="Image 7" descr="Fig. 13 – tb_cpu Test 5 / result"/>
          <p:cNvPicPr>
            <a:picLocks noChangeAspect="1"/>
          </p:cNvPicPr>
          <p:nvPr/>
        </p:nvPicPr>
        <p:blipFill>
          <a:blip r:embed="rId10"/>
          <a:stretch>
            <a:fillRect/>
          </a:stretch>
        </p:blipFill>
        <p:spPr>
          <a:xfrm>
            <a:off x="4956048" y="2128267"/>
            <a:ext cx="3108960" cy="801772"/>
          </a:xfrm>
          <a:prstGeom prst="rect">
            <a:avLst/>
          </a:prstGeom>
        </p:spPr>
      </p:pic>
      <p:sp>
        <p:nvSpPr>
          <p:cNvPr id="27" name="Text 16"/>
          <p:cNvSpPr txBox="1"/>
          <p:nvPr/>
        </p:nvSpPr>
        <p:spPr>
          <a:xfrm>
            <a:off x="4937760" y="4828771"/>
            <a:ext cx="3108960" cy="182880"/>
          </a:xfrm>
          <a:prstGeom prst="rect">
            <a:avLst/>
          </a:prstGeom>
          <a:noFill/>
          <a:ln/>
        </p:spPr>
        <p:txBody>
          <a:bodyPr wrap="square" lIns="0" tIns="0" rIns="0" bIns="0" rtlCol="0" anchor="ctr"/>
          <a:lstStyle/>
          <a:p>
            <a:pPr marL="0" indent="0" algn="ctr">
              <a:buNone/>
            </a:pPr>
            <a:r>
              <a:rPr lang="en-US" sz="900" i="1" dirty="0">
                <a:solidFill>
                  <a:srgbClr val="3E7CB1"/>
                </a:solidFill>
              </a:rPr>
              <a:t>Fig. 13 – tb_cpu Test 5 / result</a:t>
            </a:r>
            <a:endParaRPr lang="en-US" sz="900" dirty="0"/>
          </a:p>
        </p:txBody>
      </p:sp>
      <p:sp>
        <p:nvSpPr>
          <p:cNvPr id="3"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D99AE"/>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457200" y="109728"/>
            <a:ext cx="8229600" cy="64008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F4 – Elaborated Schematic (RTL Analysis)</a:t>
            </a:r>
            <a:endParaRPr lang="en-US" sz="2400" dirty="0"/>
          </a:p>
        </p:txBody>
      </p:sp>
      <p:sp>
        <p:nvSpPr>
          <p:cNvPr id="4" name="Shape 1"/>
          <p:cNvSpPr/>
          <p:nvPr/>
        </p:nvSpPr>
        <p:spPr>
          <a:xfrm>
            <a:off x="438912" y="1124712"/>
            <a:ext cx="5522976" cy="3309832"/>
          </a:xfrm>
          <a:prstGeom prst="rect">
            <a:avLst/>
          </a:prstGeom>
          <a:solidFill>
            <a:srgbClr val="FFFFFF"/>
          </a:solidFill>
          <a:ln w="9525">
            <a:solidFill>
              <a:srgbClr val="DDE3EA"/>
            </a:solidFill>
            <a:prstDash val="solid"/>
          </a:ln>
        </p:spPr>
      </p:sp>
      <p:pic>
        <p:nvPicPr>
          <p:cNvPr id="5" name="Image 0" descr="Figure 14: Elaborated Schematic"/>
          <p:cNvPicPr>
            <a:picLocks noChangeAspect="1"/>
          </p:cNvPicPr>
          <p:nvPr/>
        </p:nvPicPr>
        <p:blipFill>
          <a:blip r:embed="rId3"/>
          <a:stretch>
            <a:fillRect/>
          </a:stretch>
        </p:blipFill>
        <p:spPr>
          <a:xfrm>
            <a:off x="457200" y="1143000"/>
            <a:ext cx="5486400" cy="3273256"/>
          </a:xfrm>
          <a:prstGeom prst="rect">
            <a:avLst/>
          </a:prstGeom>
        </p:spPr>
      </p:pic>
      <p:sp>
        <p:nvSpPr>
          <p:cNvPr id="6" name="Text 2"/>
          <p:cNvSpPr txBox="1"/>
          <p:nvPr/>
        </p:nvSpPr>
        <p:spPr>
          <a:xfrm>
            <a:off x="457200" y="4443688"/>
            <a:ext cx="5486400" cy="182880"/>
          </a:xfrm>
          <a:prstGeom prst="rect">
            <a:avLst/>
          </a:prstGeom>
          <a:noFill/>
          <a:ln/>
        </p:spPr>
        <p:txBody>
          <a:bodyPr wrap="square" lIns="0" tIns="0" rIns="0" bIns="0" rtlCol="0" anchor="ctr"/>
          <a:lstStyle/>
          <a:p>
            <a:pPr marL="0" indent="0" algn="ctr">
              <a:buNone/>
            </a:pPr>
            <a:r>
              <a:rPr lang="en-US" sz="900" i="1" dirty="0">
                <a:solidFill>
                  <a:srgbClr val="3E7CB1"/>
                </a:solidFill>
              </a:rPr>
              <a:t>Figure 14: Elaborated Schematic</a:t>
            </a:r>
            <a:endParaRPr lang="en-US" sz="900" dirty="0"/>
          </a:p>
        </p:txBody>
      </p:sp>
      <p:sp>
        <p:nvSpPr>
          <p:cNvPr id="7" name="card15"/>
          <p:cNvSpPr/>
          <p:nvPr/>
        </p:nvSpPr>
        <p:spPr>
          <a:xfrm>
            <a:off x="6172200" y="1143000"/>
            <a:ext cx="2514600" cy="3291840"/>
          </a:xfrm>
          <a:prstGeom prst="rect">
            <a:avLst/>
          </a:prstGeom>
          <a:solidFill>
            <a:srgbClr val="FFFFFF"/>
          </a:solidFill>
          <a:ln w="9525">
            <a:solidFill>
              <a:srgbClr val="DDE3EA"/>
            </a:solidFill>
            <a:prstDash val="solid"/>
          </a:ln>
        </p:spPr>
      </p:sp>
      <p:sp>
        <p:nvSpPr>
          <p:cNvPr id="8" name="Shape 4"/>
          <p:cNvSpPr/>
          <p:nvPr/>
        </p:nvSpPr>
        <p:spPr>
          <a:xfrm>
            <a:off x="6172200" y="1143000"/>
            <a:ext cx="64008" cy="3291840"/>
          </a:xfrm>
          <a:prstGeom prst="rect">
            <a:avLst/>
          </a:prstGeom>
          <a:solidFill>
            <a:srgbClr val="3E7CB1"/>
          </a:solidFill>
          <a:ln w="12700">
            <a:solidFill>
              <a:srgbClr val="3E7CB1"/>
            </a:solidFill>
            <a:prstDash val="solid"/>
          </a:ln>
        </p:spPr>
      </p:sp>
      <p:sp>
        <p:nvSpPr>
          <p:cNvPr id="9" name="Text 5"/>
          <p:cNvSpPr txBox="1"/>
          <p:nvPr/>
        </p:nvSpPr>
        <p:spPr>
          <a:xfrm>
            <a:off x="6355080" y="1216152"/>
            <a:ext cx="2240280" cy="320040"/>
          </a:xfrm>
          <a:prstGeom prst="rect">
            <a:avLst/>
          </a:prstGeom>
          <a:noFill/>
          <a:ln/>
        </p:spPr>
        <p:txBody>
          <a:bodyPr wrap="square" lIns="0" tIns="0" rIns="0" bIns="0" rtlCol="0" anchor="ctr"/>
          <a:lstStyle/>
          <a:p>
            <a:pPr marL="0" indent="0">
              <a:buNone/>
            </a:pPr>
            <a:r>
              <a:rPr lang="en-US" sz="1300" b="1" dirty="0">
                <a:solidFill>
                  <a:srgbClr val="0B2545"/>
                </a:solidFill>
              </a:rPr>
              <a:t>RTL Analysis</a:t>
            </a:r>
            <a:endParaRPr lang="en-US" sz="1300" dirty="0"/>
          </a:p>
        </p:txBody>
      </p:sp>
      <p:sp>
        <p:nvSpPr>
          <p:cNvPr id="10" name="Text 6"/>
          <p:cNvSpPr txBox="1"/>
          <p:nvPr/>
        </p:nvSpPr>
        <p:spPr>
          <a:xfrm>
            <a:off x="6355080" y="1554480"/>
            <a:ext cx="2240280" cy="2834640"/>
          </a:xfrm>
          <a:prstGeom prst="rect">
            <a:avLst/>
          </a:prstGeom>
          <a:noFill/>
          <a:ln/>
        </p:spPr>
        <p:txBody>
          <a:bodyPr wrap="square" lIns="0" tIns="0" rIns="0" bIns="0" rtlCol="0" anchor="t"/>
          <a:lstStyle/>
          <a:p>
            <a:pPr marL="0" indent="0">
              <a:buNone/>
            </a:pPr>
            <a:r>
              <a:rPr lang="en-US" sz="1100" dirty="0">
                <a:solidFill>
                  <a:srgbClr val="1B1F2A"/>
                </a:solidFill>
              </a:rPr>
              <a:t>13 cells</a:t>
            </a:r>
            <a:endParaRPr lang="en-US" sz="1100" dirty="0"/>
          </a:p>
          <a:p>
            <a:pPr marL="0" indent="0">
              <a:buNone/>
            </a:pPr>
            <a:r>
              <a:rPr lang="en-US" sz="1100" dirty="0">
                <a:solidFill>
                  <a:srgbClr val="1B1F2A"/>
                </a:solidFill>
              </a:rPr>
              <a:t>28 I/O ports</a:t>
            </a:r>
            <a:endParaRPr lang="en-US" sz="1100" dirty="0"/>
          </a:p>
          <a:p>
            <a:pPr marL="0" indent="0">
              <a:buNone/>
            </a:pPr>
            <a:r>
              <a:rPr lang="en-US" sz="1100" dirty="0">
                <a:solidFill>
                  <a:srgbClr val="1B1F2A"/>
                </a:solidFill>
              </a:rPr>
              <a:t>116 nets</a:t>
            </a:r>
            <a:endParaRPr lang="en-US" sz="1100" dirty="0"/>
          </a:p>
          <a:p>
            <a:pPr marL="0" indent="0">
              <a:buNone/>
            </a:pPr>
            <a:endParaRPr lang="en-US" sz="1100" dirty="0"/>
          </a:p>
          <a:p>
            <a:pPr marL="0" indent="0">
              <a:buNone/>
            </a:pPr>
            <a:r>
              <a:rPr lang="en-US" sz="1100" dirty="0">
                <a:solidFill>
                  <a:srgbClr val="1B1F2A"/>
                </a:solidFill>
              </a:rPr>
              <a:t>Clean inter-stage boundary registers isolate IF, ID and EX zones.</a:t>
            </a:r>
            <a:endParaRPr lang="en-US" sz="1100" dirty="0"/>
          </a:p>
          <a:p>
            <a:pPr marL="0" indent="0">
              <a:buNone/>
            </a:pPr>
            <a:endParaRPr lang="en-US" sz="1100" dirty="0"/>
          </a:p>
          <a:p>
            <a:pPr marL="0" indent="0">
              <a:buNone/>
            </a:pPr>
            <a:r>
              <a:rPr lang="en-US" sz="1100" dirty="0">
                <a:solidFill>
                  <a:srgbClr val="1B1F2A"/>
                </a:solidFill>
              </a:rPr>
              <a:t>Zero unintended latch generation.</a:t>
            </a:r>
            <a:endParaRPr lang="en-US" sz="11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D99AE"/>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457200" y="109728"/>
            <a:ext cx="8229600" cy="64008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F5 – Synthesized Schematic</a:t>
            </a:r>
            <a:endParaRPr lang="en-US" sz="2400" dirty="0"/>
          </a:p>
        </p:txBody>
      </p:sp>
      <p:sp>
        <p:nvSpPr>
          <p:cNvPr id="4" name="Shape 1"/>
          <p:cNvSpPr/>
          <p:nvPr/>
        </p:nvSpPr>
        <p:spPr>
          <a:xfrm>
            <a:off x="438912" y="1124712"/>
            <a:ext cx="5522976" cy="3322503"/>
          </a:xfrm>
          <a:prstGeom prst="rect">
            <a:avLst/>
          </a:prstGeom>
          <a:solidFill>
            <a:srgbClr val="FFFFFF"/>
          </a:solidFill>
          <a:ln w="9525">
            <a:solidFill>
              <a:srgbClr val="DDE3EA"/>
            </a:solidFill>
            <a:prstDash val="solid"/>
          </a:ln>
        </p:spPr>
      </p:sp>
      <p:pic>
        <p:nvPicPr>
          <p:cNvPr id="5" name="Image 0" descr="Figure 15: Synthesized Schematic"/>
          <p:cNvPicPr>
            <a:picLocks noChangeAspect="1"/>
          </p:cNvPicPr>
          <p:nvPr/>
        </p:nvPicPr>
        <p:blipFill>
          <a:blip r:embed="rId3"/>
          <a:stretch>
            <a:fillRect/>
          </a:stretch>
        </p:blipFill>
        <p:spPr>
          <a:xfrm>
            <a:off x="457200" y="1143000"/>
            <a:ext cx="5486400" cy="3285927"/>
          </a:xfrm>
          <a:prstGeom prst="rect">
            <a:avLst/>
          </a:prstGeom>
        </p:spPr>
      </p:pic>
      <p:sp>
        <p:nvSpPr>
          <p:cNvPr id="6" name="Text 2"/>
          <p:cNvSpPr txBox="1"/>
          <p:nvPr/>
        </p:nvSpPr>
        <p:spPr>
          <a:xfrm>
            <a:off x="457200" y="4456359"/>
            <a:ext cx="5486400" cy="182880"/>
          </a:xfrm>
          <a:prstGeom prst="rect">
            <a:avLst/>
          </a:prstGeom>
          <a:noFill/>
          <a:ln/>
        </p:spPr>
        <p:txBody>
          <a:bodyPr wrap="square" lIns="0" tIns="0" rIns="0" bIns="0" rtlCol="0" anchor="ctr"/>
          <a:lstStyle/>
          <a:p>
            <a:pPr marL="0" indent="0" algn="ctr">
              <a:buNone/>
            </a:pPr>
            <a:r>
              <a:rPr lang="en-US" sz="900" i="1" dirty="0">
                <a:solidFill>
                  <a:srgbClr val="3E7CB1"/>
                </a:solidFill>
              </a:rPr>
              <a:t>Figure 15: Synthesized Schematic</a:t>
            </a:r>
            <a:endParaRPr lang="en-US" sz="900" dirty="0"/>
          </a:p>
        </p:txBody>
      </p:sp>
      <p:sp>
        <p:nvSpPr>
          <p:cNvPr id="7" name="card16"/>
          <p:cNvSpPr/>
          <p:nvPr/>
        </p:nvSpPr>
        <p:spPr>
          <a:xfrm>
            <a:off x="6172200" y="1143000"/>
            <a:ext cx="2514600" cy="3291840"/>
          </a:xfrm>
          <a:prstGeom prst="rect">
            <a:avLst/>
          </a:prstGeom>
          <a:solidFill>
            <a:srgbClr val="FFFFFF"/>
          </a:solidFill>
          <a:ln w="9525">
            <a:solidFill>
              <a:srgbClr val="DDE3EA"/>
            </a:solidFill>
            <a:prstDash val="solid"/>
          </a:ln>
        </p:spPr>
      </p:sp>
      <p:sp>
        <p:nvSpPr>
          <p:cNvPr id="8" name="Shape 4"/>
          <p:cNvSpPr/>
          <p:nvPr/>
        </p:nvSpPr>
        <p:spPr>
          <a:xfrm>
            <a:off x="6172200" y="1143000"/>
            <a:ext cx="64008" cy="3291840"/>
          </a:xfrm>
          <a:prstGeom prst="rect">
            <a:avLst/>
          </a:prstGeom>
          <a:solidFill>
            <a:srgbClr val="6A4C93"/>
          </a:solidFill>
          <a:ln w="12700">
            <a:solidFill>
              <a:srgbClr val="6A4C93"/>
            </a:solidFill>
            <a:prstDash val="solid"/>
          </a:ln>
        </p:spPr>
      </p:sp>
      <p:sp>
        <p:nvSpPr>
          <p:cNvPr id="9" name="Text 5"/>
          <p:cNvSpPr txBox="1"/>
          <p:nvPr/>
        </p:nvSpPr>
        <p:spPr>
          <a:xfrm>
            <a:off x="6355080" y="1216152"/>
            <a:ext cx="2240280" cy="320040"/>
          </a:xfrm>
          <a:prstGeom prst="rect">
            <a:avLst/>
          </a:prstGeom>
          <a:noFill/>
          <a:ln/>
        </p:spPr>
        <p:txBody>
          <a:bodyPr wrap="square" lIns="0" tIns="0" rIns="0" bIns="0" rtlCol="0" anchor="ctr"/>
          <a:lstStyle/>
          <a:p>
            <a:pPr marL="0" indent="0">
              <a:buNone/>
            </a:pPr>
            <a:r>
              <a:rPr lang="en-US" sz="1300" b="1" dirty="0">
                <a:solidFill>
                  <a:srgbClr val="0B2545"/>
                </a:solidFill>
              </a:rPr>
              <a:t>Technology Mapping</a:t>
            </a:r>
            <a:endParaRPr lang="en-US" sz="1300" dirty="0"/>
          </a:p>
        </p:txBody>
      </p:sp>
      <p:sp>
        <p:nvSpPr>
          <p:cNvPr id="10" name="Text 6"/>
          <p:cNvSpPr txBox="1"/>
          <p:nvPr/>
        </p:nvSpPr>
        <p:spPr>
          <a:xfrm>
            <a:off x="6355080" y="1554480"/>
            <a:ext cx="2240280" cy="2834640"/>
          </a:xfrm>
          <a:prstGeom prst="rect">
            <a:avLst/>
          </a:prstGeom>
          <a:noFill/>
          <a:ln/>
        </p:spPr>
        <p:txBody>
          <a:bodyPr wrap="square" lIns="0" tIns="0" rIns="0" bIns="0" rtlCol="0" anchor="t"/>
          <a:lstStyle/>
          <a:p>
            <a:pPr marL="0" indent="0">
              <a:buNone/>
            </a:pPr>
            <a:r>
              <a:rPr lang="en-US" sz="1100" dirty="0">
                <a:solidFill>
                  <a:srgbClr val="1B1F2A"/>
                </a:solidFill>
              </a:rPr>
              <a:t>144 cells</a:t>
            </a:r>
            <a:endParaRPr lang="en-US" sz="1100" dirty="0"/>
          </a:p>
          <a:p>
            <a:pPr marL="0" indent="0">
              <a:buNone/>
            </a:pPr>
            <a:r>
              <a:rPr lang="en-US" sz="1100" dirty="0">
                <a:solidFill>
                  <a:srgbClr val="1B1F2A"/>
                </a:solidFill>
              </a:rPr>
              <a:t>28 I/O ports</a:t>
            </a:r>
            <a:endParaRPr lang="en-US" sz="1100" dirty="0"/>
          </a:p>
          <a:p>
            <a:pPr marL="0" indent="0">
              <a:buNone/>
            </a:pPr>
            <a:r>
              <a:rPr lang="en-US" sz="1100" dirty="0">
                <a:solidFill>
                  <a:srgbClr val="1B1F2A"/>
                </a:solidFill>
              </a:rPr>
              <a:t>319 nets</a:t>
            </a:r>
            <a:endParaRPr lang="en-US" sz="1100" dirty="0"/>
          </a:p>
          <a:p>
            <a:pPr marL="0" indent="0">
              <a:buNone/>
            </a:pPr>
            <a:endParaRPr lang="en-US" sz="1100" dirty="0"/>
          </a:p>
          <a:p>
            <a:pPr marL="0" indent="0">
              <a:buNone/>
            </a:pPr>
            <a:r>
              <a:rPr lang="en-US" sz="1100" dirty="0">
                <a:solidFill>
                  <a:srgbClr val="1B1F2A"/>
                </a:solidFill>
              </a:rPr>
              <a:t>Mapped to:</a:t>
            </a:r>
            <a:endParaRPr lang="en-US" sz="1100" dirty="0"/>
          </a:p>
          <a:p>
            <a:pPr marL="0" indent="0">
              <a:buNone/>
            </a:pPr>
            <a:r>
              <a:rPr lang="en-US" sz="1100" dirty="0">
                <a:solidFill>
                  <a:srgbClr val="1B1F2A"/>
                </a:solidFill>
              </a:rPr>
              <a:t>LUT6 · MUXF7</a:t>
            </a:r>
            <a:endParaRPr lang="en-US" sz="1100" dirty="0"/>
          </a:p>
          <a:p>
            <a:pPr marL="0" indent="0">
              <a:buNone/>
            </a:pPr>
            <a:r>
              <a:rPr lang="en-US" sz="1100" dirty="0">
                <a:solidFill>
                  <a:srgbClr val="1B1F2A"/>
                </a:solidFill>
              </a:rPr>
              <a:t>FDRE flip-flops</a:t>
            </a:r>
            <a:endParaRPr lang="en-US" sz="1100" dirty="0"/>
          </a:p>
          <a:p>
            <a:pPr marL="0" indent="0">
              <a:buNone/>
            </a:pPr>
            <a:r>
              <a:rPr lang="en-US" sz="1100" dirty="0">
                <a:solidFill>
                  <a:srgbClr val="1B1F2A"/>
                </a:solidFill>
              </a:rPr>
              <a:t>IBUF / OBUF pads</a:t>
            </a:r>
            <a:endParaRPr lang="en-US" sz="11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D99AE"/>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457200" y="109728"/>
            <a:ext cx="8229600" cy="64008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F6 – Utilization Report</a:t>
            </a:r>
            <a:endParaRPr lang="en-US" sz="2400" dirty="0"/>
          </a:p>
        </p:txBody>
      </p:sp>
      <p:sp>
        <p:nvSpPr>
          <p:cNvPr id="4" name="Shape 1"/>
          <p:cNvSpPr/>
          <p:nvPr/>
        </p:nvSpPr>
        <p:spPr>
          <a:xfrm>
            <a:off x="438912" y="1124712"/>
            <a:ext cx="5522976" cy="3233808"/>
          </a:xfrm>
          <a:prstGeom prst="rect">
            <a:avLst/>
          </a:prstGeom>
          <a:solidFill>
            <a:srgbClr val="FFFFFF"/>
          </a:solidFill>
          <a:ln w="9525">
            <a:solidFill>
              <a:srgbClr val="DDE3EA"/>
            </a:solidFill>
            <a:prstDash val="solid"/>
          </a:ln>
        </p:spPr>
      </p:sp>
      <p:pic>
        <p:nvPicPr>
          <p:cNvPr id="5" name="Image 0" descr="Figure 16: Utilization Report"/>
          <p:cNvPicPr>
            <a:picLocks noChangeAspect="1"/>
          </p:cNvPicPr>
          <p:nvPr/>
        </p:nvPicPr>
        <p:blipFill>
          <a:blip r:embed="rId3"/>
          <a:stretch>
            <a:fillRect/>
          </a:stretch>
        </p:blipFill>
        <p:spPr>
          <a:xfrm>
            <a:off x="457200" y="1143000"/>
            <a:ext cx="5486400" cy="3197232"/>
          </a:xfrm>
          <a:prstGeom prst="rect">
            <a:avLst/>
          </a:prstGeom>
        </p:spPr>
      </p:pic>
      <p:sp>
        <p:nvSpPr>
          <p:cNvPr id="6" name="Text 2"/>
          <p:cNvSpPr txBox="1"/>
          <p:nvPr/>
        </p:nvSpPr>
        <p:spPr>
          <a:xfrm>
            <a:off x="457200" y="4367664"/>
            <a:ext cx="5486400" cy="182880"/>
          </a:xfrm>
          <a:prstGeom prst="rect">
            <a:avLst/>
          </a:prstGeom>
          <a:noFill/>
          <a:ln/>
        </p:spPr>
        <p:txBody>
          <a:bodyPr wrap="square" lIns="0" tIns="0" rIns="0" bIns="0" rtlCol="0" anchor="ctr"/>
          <a:lstStyle/>
          <a:p>
            <a:pPr marL="0" indent="0" algn="ctr">
              <a:buNone/>
            </a:pPr>
            <a:r>
              <a:rPr lang="en-US" sz="900" i="1" dirty="0">
                <a:solidFill>
                  <a:srgbClr val="3E7CB1"/>
                </a:solidFill>
              </a:rPr>
              <a:t>Figure 16: Utilization Report</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172200" y="1143000"/>
          <a:ext cx="2514600" cy="1280160"/>
        </p:xfrm>
        <a:graphic>
          <a:graphicData uri="http://schemas.openxmlformats.org/drawingml/2006/table">
            <a:tbl>
              <a:tblPr/>
              <a:tblGrid>
                <a:gridCol w="6858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tblGrid>
              <a:tr h="320040">
                <a:tc>
                  <a:txBody>
                    <a:bodyPr/>
                    <a:lstStyle/>
                    <a:p>
                      <a:pPr marL="0" indent="0" algn="ctr">
                        <a:buNone/>
                      </a:pPr>
                      <a:r>
                        <a:rPr lang="en-US" sz="1000" b="1" dirty="0">
                          <a:solidFill>
                            <a:srgbClr val="FFFFFF"/>
                          </a:solidFill>
                        </a:rPr>
                        <a:t>Resource</a:t>
                      </a:r>
                      <a:endParaRPr lang="en-US" sz="10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0B2545"/>
                    </a:solidFill>
                  </a:tcPr>
                </a:tc>
                <a:tc>
                  <a:txBody>
                    <a:bodyPr/>
                    <a:lstStyle/>
                    <a:p>
                      <a:pPr marL="0" indent="0" algn="ctr">
                        <a:buNone/>
                      </a:pPr>
                      <a:r>
                        <a:rPr lang="en-US" sz="1000" b="1" dirty="0">
                          <a:solidFill>
                            <a:srgbClr val="FFFFFF"/>
                          </a:solidFill>
                        </a:rPr>
                        <a:t>Used</a:t>
                      </a:r>
                      <a:endParaRPr lang="en-US" sz="10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0B2545"/>
                    </a:solidFill>
                  </a:tcPr>
                </a:tc>
                <a:tc>
                  <a:txBody>
                    <a:bodyPr/>
                    <a:lstStyle/>
                    <a:p>
                      <a:pPr marL="0" indent="0" algn="ctr">
                        <a:buNone/>
                      </a:pPr>
                      <a:r>
                        <a:rPr lang="en-US" sz="1000" b="1" dirty="0">
                          <a:solidFill>
                            <a:srgbClr val="FFFFFF"/>
                          </a:solidFill>
                        </a:rPr>
                        <a:t>Util.</a:t>
                      </a:r>
                      <a:endParaRPr lang="en-US" sz="10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320040">
                <a:tc>
                  <a:txBody>
                    <a:bodyPr/>
                    <a:lstStyle/>
                    <a:p>
                      <a:pPr marL="0" indent="0" algn="ctr">
                        <a:buNone/>
                      </a:pPr>
                      <a:r>
                        <a:rPr lang="en-US" sz="1100" dirty="0">
                          <a:solidFill>
                            <a:srgbClr val="1B1F2A"/>
                          </a:solidFill>
                        </a:rPr>
                        <a:t>LUT</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41 / 20,800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0.20%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0040">
                <a:tc>
                  <a:txBody>
                    <a:bodyPr/>
                    <a:lstStyle/>
                    <a:p>
                      <a:pPr marL="0" indent="0" algn="ctr">
                        <a:buNone/>
                      </a:pPr>
                      <a:r>
                        <a:rPr lang="en-US" sz="1100" dirty="0">
                          <a:solidFill>
                            <a:srgbClr val="1B1F2A"/>
                          </a:solidFill>
                        </a:rPr>
                        <a:t>FF</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50 / 41,600</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0.12%</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0040">
                <a:tc>
                  <a:txBody>
                    <a:bodyPr/>
                    <a:lstStyle/>
                    <a:p>
                      <a:pPr marL="0" indent="0" algn="ctr">
                        <a:buNone/>
                      </a:pPr>
                      <a:r>
                        <a:rPr lang="en-US" sz="1100" dirty="0">
                          <a:solidFill>
                            <a:srgbClr val="1B1F2A"/>
                          </a:solidFill>
                        </a:rPr>
                        <a:t>IO</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28 / 106</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1F2A"/>
                          </a:solidFill>
                        </a:rPr>
                        <a:t>26.42%</a:t>
                      </a:r>
                      <a:endParaRPr lang="en-US" sz="1100" dirty="0"/>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8" name="Text 3"/>
          <p:cNvSpPr txBox="1"/>
          <p:nvPr/>
        </p:nvSpPr>
        <p:spPr>
          <a:xfrm>
            <a:off x="6172200" y="2651760"/>
            <a:ext cx="2514600" cy="1097280"/>
          </a:xfrm>
          <a:prstGeom prst="rect">
            <a:avLst/>
          </a:prstGeom>
          <a:noFill/>
          <a:ln/>
        </p:spPr>
        <p:txBody>
          <a:bodyPr wrap="square" lIns="0" tIns="0" rIns="0" bIns="0" rtlCol="0" anchor="t"/>
          <a:lstStyle/>
          <a:p>
            <a:pPr marL="0" indent="0">
              <a:buNone/>
            </a:pPr>
            <a:r>
              <a:rPr lang="en-US" sz="1100" i="1" dirty="0">
                <a:solidFill>
                  <a:srgbClr val="0B2545"/>
                </a:solidFill>
              </a:rPr>
              <a:t>Area is minimized via logic reuse in the shared adder_subtractor core and simple combinational decoders.</a:t>
            </a:r>
            <a:endParaRPr lang="en-US" sz="11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D99AE"/>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457200" y="109728"/>
            <a:ext cx="8229600" cy="64008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Part E – Design Flow in Vivado 2026.1</a:t>
            </a:r>
            <a:endParaRPr lang="en-US" sz="2400" dirty="0"/>
          </a:p>
        </p:txBody>
      </p:sp>
      <p:sp>
        <p:nvSpPr>
          <p:cNvPr id="4" name="Shape 1"/>
          <p:cNvSpPr/>
          <p:nvPr/>
        </p:nvSpPr>
        <p:spPr>
          <a:xfrm>
            <a:off x="457200" y="1188720"/>
            <a:ext cx="2651760" cy="1600200"/>
          </a:xfrm>
          <a:prstGeom prst="rect">
            <a:avLst/>
          </a:prstGeom>
          <a:solidFill>
            <a:srgbClr val="FFFFFF"/>
          </a:solidFill>
          <a:ln w="9525">
            <a:solidFill>
              <a:srgbClr val="DDE3EA"/>
            </a:solidFill>
            <a:prstDash val="solid"/>
          </a:ln>
        </p:spPr>
      </p:sp>
      <p:sp>
        <p:nvSpPr>
          <p:cNvPr id="5" name="Shape 2"/>
          <p:cNvSpPr/>
          <p:nvPr/>
        </p:nvSpPr>
        <p:spPr>
          <a:xfrm>
            <a:off x="594360" y="1325880"/>
            <a:ext cx="411480" cy="411480"/>
          </a:xfrm>
          <a:prstGeom prst="ellipse">
            <a:avLst/>
          </a:prstGeom>
          <a:solidFill>
            <a:srgbClr val="13A89E"/>
          </a:solidFill>
          <a:ln w="12700">
            <a:solidFill>
              <a:srgbClr val="FFFFFF"/>
            </a:solidFill>
            <a:prstDash val="solid"/>
          </a:ln>
        </p:spPr>
      </p:sp>
      <p:sp>
        <p:nvSpPr>
          <p:cNvPr id="6" name="Text 3"/>
          <p:cNvSpPr txBox="1"/>
          <p:nvPr/>
        </p:nvSpPr>
        <p:spPr>
          <a:xfrm>
            <a:off x="594360" y="132588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Text 4"/>
          <p:cNvSpPr txBox="1"/>
          <p:nvPr/>
        </p:nvSpPr>
        <p:spPr>
          <a:xfrm>
            <a:off x="1097280" y="1298448"/>
            <a:ext cx="1920240" cy="457200"/>
          </a:xfrm>
          <a:prstGeom prst="rect">
            <a:avLst/>
          </a:prstGeom>
          <a:noFill/>
          <a:ln/>
        </p:spPr>
        <p:txBody>
          <a:bodyPr wrap="square" lIns="0" tIns="0" rIns="0" bIns="0" rtlCol="0" anchor="ctr"/>
          <a:lstStyle/>
          <a:p>
            <a:pPr marL="0" indent="0">
              <a:buNone/>
            </a:pPr>
            <a:r>
              <a:rPr lang="en-US" sz="1300" b="1" dirty="0">
                <a:solidFill>
                  <a:srgbClr val="0B2545"/>
                </a:solidFill>
              </a:rPr>
              <a:t>Project Init &amp; Device</a:t>
            </a:r>
            <a:endParaRPr lang="en-US" sz="1300" dirty="0"/>
          </a:p>
        </p:txBody>
      </p:sp>
      <p:sp>
        <p:nvSpPr>
          <p:cNvPr id="8" name="Text 5"/>
          <p:cNvSpPr txBox="1"/>
          <p:nvPr/>
        </p:nvSpPr>
        <p:spPr>
          <a:xfrm>
            <a:off x="594360" y="1920240"/>
            <a:ext cx="2377440" cy="777240"/>
          </a:xfrm>
          <a:prstGeom prst="rect">
            <a:avLst/>
          </a:prstGeom>
          <a:noFill/>
          <a:ln/>
        </p:spPr>
        <p:txBody>
          <a:bodyPr wrap="square" lIns="0" tIns="0" rIns="0" bIns="0" rtlCol="0" anchor="t"/>
          <a:lstStyle/>
          <a:p>
            <a:pPr marL="0" indent="0">
              <a:buNone/>
            </a:pPr>
            <a:r>
              <a:rPr lang="en-US" sz="1100" dirty="0">
                <a:solidFill>
                  <a:srgbClr val="1B1F2A"/>
                </a:solidFill>
              </a:rPr>
              <a:t>Create RTL project, Verilog-2005, target Artix-7 xc7a35tcpg236-1</a:t>
            </a:r>
            <a:endParaRPr lang="en-US" sz="1100" dirty="0"/>
          </a:p>
        </p:txBody>
      </p:sp>
      <p:sp>
        <p:nvSpPr>
          <p:cNvPr id="9" name="Shape 6"/>
          <p:cNvSpPr/>
          <p:nvPr/>
        </p:nvSpPr>
        <p:spPr>
          <a:xfrm>
            <a:off x="3246120" y="1188720"/>
            <a:ext cx="2651760" cy="1600200"/>
          </a:xfrm>
          <a:prstGeom prst="rect">
            <a:avLst/>
          </a:prstGeom>
          <a:solidFill>
            <a:srgbClr val="FFFFFF"/>
          </a:solidFill>
          <a:ln w="9525">
            <a:solidFill>
              <a:srgbClr val="DDE3EA"/>
            </a:solidFill>
            <a:prstDash val="solid"/>
          </a:ln>
        </p:spPr>
      </p:sp>
      <p:sp>
        <p:nvSpPr>
          <p:cNvPr id="10" name="Shape 7"/>
          <p:cNvSpPr/>
          <p:nvPr/>
        </p:nvSpPr>
        <p:spPr>
          <a:xfrm>
            <a:off x="3383280" y="1325880"/>
            <a:ext cx="411480" cy="411480"/>
          </a:xfrm>
          <a:prstGeom prst="ellipse">
            <a:avLst/>
          </a:prstGeom>
          <a:solidFill>
            <a:srgbClr val="13A89E"/>
          </a:solidFill>
          <a:ln w="12700">
            <a:solidFill>
              <a:srgbClr val="FFFFFF"/>
            </a:solidFill>
            <a:prstDash val="solid"/>
          </a:ln>
        </p:spPr>
      </p:sp>
      <p:sp>
        <p:nvSpPr>
          <p:cNvPr id="11" name="Text 8"/>
          <p:cNvSpPr txBox="1"/>
          <p:nvPr/>
        </p:nvSpPr>
        <p:spPr>
          <a:xfrm>
            <a:off x="3383280" y="132588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2" name="Text 9"/>
          <p:cNvSpPr txBox="1"/>
          <p:nvPr/>
        </p:nvSpPr>
        <p:spPr>
          <a:xfrm>
            <a:off x="3886200" y="1298448"/>
            <a:ext cx="1920240" cy="457200"/>
          </a:xfrm>
          <a:prstGeom prst="rect">
            <a:avLst/>
          </a:prstGeom>
          <a:noFill/>
          <a:ln/>
        </p:spPr>
        <p:txBody>
          <a:bodyPr wrap="square" lIns="0" tIns="0" rIns="0" bIns="0" rtlCol="0" anchor="ctr"/>
          <a:lstStyle/>
          <a:p>
            <a:pPr marL="0" indent="0">
              <a:buNone/>
            </a:pPr>
            <a:r>
              <a:rPr lang="en-US" sz="1300" b="1" dirty="0">
                <a:solidFill>
                  <a:srgbClr val="0B2545"/>
                </a:solidFill>
              </a:rPr>
              <a:t>Source Separation</a:t>
            </a:r>
            <a:endParaRPr lang="en-US" sz="1300" dirty="0"/>
          </a:p>
        </p:txBody>
      </p:sp>
      <p:sp>
        <p:nvSpPr>
          <p:cNvPr id="13" name="Text 10"/>
          <p:cNvSpPr txBox="1"/>
          <p:nvPr/>
        </p:nvSpPr>
        <p:spPr>
          <a:xfrm>
            <a:off x="3383280" y="1920240"/>
            <a:ext cx="2377440" cy="777240"/>
          </a:xfrm>
          <a:prstGeom prst="rect">
            <a:avLst/>
          </a:prstGeom>
          <a:noFill/>
          <a:ln/>
        </p:spPr>
        <p:txBody>
          <a:bodyPr wrap="square" lIns="0" tIns="0" rIns="0" bIns="0" rtlCol="0" anchor="t"/>
          <a:lstStyle/>
          <a:p>
            <a:pPr marL="0" indent="0">
              <a:buNone/>
            </a:pPr>
            <a:r>
              <a:rPr lang="en-US" sz="1100" dirty="0">
                <a:solidFill>
                  <a:srgbClr val="1B1F2A"/>
                </a:solidFill>
              </a:rPr>
              <a:t>11 design modules vs. 4 testbenches + 4 .mem files</a:t>
            </a:r>
            <a:endParaRPr lang="en-US" sz="1100" dirty="0"/>
          </a:p>
        </p:txBody>
      </p:sp>
      <p:sp>
        <p:nvSpPr>
          <p:cNvPr id="14" name="Shape 11"/>
          <p:cNvSpPr/>
          <p:nvPr/>
        </p:nvSpPr>
        <p:spPr>
          <a:xfrm>
            <a:off x="6035040" y="1188720"/>
            <a:ext cx="2651760" cy="1600200"/>
          </a:xfrm>
          <a:prstGeom prst="rect">
            <a:avLst/>
          </a:prstGeom>
          <a:solidFill>
            <a:srgbClr val="FFFFFF"/>
          </a:solidFill>
          <a:ln w="9525">
            <a:solidFill>
              <a:srgbClr val="DDE3EA"/>
            </a:solidFill>
            <a:prstDash val="solid"/>
          </a:ln>
        </p:spPr>
      </p:sp>
      <p:sp>
        <p:nvSpPr>
          <p:cNvPr id="15" name="Shape 12"/>
          <p:cNvSpPr/>
          <p:nvPr/>
        </p:nvSpPr>
        <p:spPr>
          <a:xfrm>
            <a:off x="6172200" y="1325880"/>
            <a:ext cx="411480" cy="411480"/>
          </a:xfrm>
          <a:prstGeom prst="ellipse">
            <a:avLst/>
          </a:prstGeom>
          <a:solidFill>
            <a:srgbClr val="13A89E"/>
          </a:solidFill>
          <a:ln w="12700">
            <a:solidFill>
              <a:srgbClr val="FFFFFF"/>
            </a:solidFill>
            <a:prstDash val="solid"/>
          </a:ln>
        </p:spPr>
      </p:sp>
      <p:sp>
        <p:nvSpPr>
          <p:cNvPr id="16" name="Text 13"/>
          <p:cNvSpPr txBox="1"/>
          <p:nvPr/>
        </p:nvSpPr>
        <p:spPr>
          <a:xfrm>
            <a:off x="6172200" y="132588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7" name="Text 14"/>
          <p:cNvSpPr txBox="1"/>
          <p:nvPr/>
        </p:nvSpPr>
        <p:spPr>
          <a:xfrm>
            <a:off x="6675120" y="1298448"/>
            <a:ext cx="1920240" cy="457200"/>
          </a:xfrm>
          <a:prstGeom prst="rect">
            <a:avLst/>
          </a:prstGeom>
          <a:noFill/>
          <a:ln/>
        </p:spPr>
        <p:txBody>
          <a:bodyPr wrap="square" lIns="0" tIns="0" rIns="0" bIns="0" rtlCol="0" anchor="ctr"/>
          <a:lstStyle/>
          <a:p>
            <a:pPr marL="0" indent="0">
              <a:buNone/>
            </a:pPr>
            <a:r>
              <a:rPr lang="en-US" sz="1300" b="1" dirty="0">
                <a:solidFill>
                  <a:srgbClr val="0B2545"/>
                </a:solidFill>
              </a:rPr>
              <a:t>Behavioral Simulation</a:t>
            </a:r>
            <a:endParaRPr lang="en-US" sz="1300" dirty="0"/>
          </a:p>
        </p:txBody>
      </p:sp>
      <p:sp>
        <p:nvSpPr>
          <p:cNvPr id="18" name="Text 15"/>
          <p:cNvSpPr txBox="1"/>
          <p:nvPr/>
        </p:nvSpPr>
        <p:spPr>
          <a:xfrm>
            <a:off x="6172200" y="1920240"/>
            <a:ext cx="2377440" cy="777240"/>
          </a:xfrm>
          <a:prstGeom prst="rect">
            <a:avLst/>
          </a:prstGeom>
          <a:noFill/>
          <a:ln/>
        </p:spPr>
        <p:txBody>
          <a:bodyPr wrap="square" lIns="0" tIns="0" rIns="0" bIns="0" rtlCol="0" anchor="t"/>
          <a:lstStyle/>
          <a:p>
            <a:pPr marL="0" indent="0">
              <a:buNone/>
            </a:pPr>
            <a:r>
              <a:rPr lang="en-US" sz="1100" dirty="0">
                <a:solidFill>
                  <a:srgbClr val="1B1F2A"/>
                </a:solidFill>
              </a:rPr>
              <a:t>XSim on 4 testbenches → 88 / 88 checks</a:t>
            </a:r>
            <a:endParaRPr lang="en-US" sz="1100" dirty="0"/>
          </a:p>
        </p:txBody>
      </p:sp>
      <p:sp>
        <p:nvSpPr>
          <p:cNvPr id="19" name="Shape 16"/>
          <p:cNvSpPr/>
          <p:nvPr/>
        </p:nvSpPr>
        <p:spPr>
          <a:xfrm>
            <a:off x="457200" y="2926080"/>
            <a:ext cx="2651760" cy="1600200"/>
          </a:xfrm>
          <a:prstGeom prst="rect">
            <a:avLst/>
          </a:prstGeom>
          <a:solidFill>
            <a:srgbClr val="FFFFFF"/>
          </a:solidFill>
          <a:ln w="9525">
            <a:solidFill>
              <a:srgbClr val="DDE3EA"/>
            </a:solidFill>
            <a:prstDash val="solid"/>
          </a:ln>
        </p:spPr>
      </p:sp>
      <p:sp>
        <p:nvSpPr>
          <p:cNvPr id="20" name="Shape 17"/>
          <p:cNvSpPr/>
          <p:nvPr/>
        </p:nvSpPr>
        <p:spPr>
          <a:xfrm>
            <a:off x="594360" y="3063240"/>
            <a:ext cx="411480" cy="411480"/>
          </a:xfrm>
          <a:prstGeom prst="ellipse">
            <a:avLst/>
          </a:prstGeom>
          <a:solidFill>
            <a:srgbClr val="F28C28"/>
          </a:solidFill>
          <a:ln w="12700">
            <a:solidFill>
              <a:srgbClr val="FFFFFF"/>
            </a:solidFill>
            <a:prstDash val="solid"/>
          </a:ln>
        </p:spPr>
      </p:sp>
      <p:sp>
        <p:nvSpPr>
          <p:cNvPr id="21" name="Text 18"/>
          <p:cNvSpPr txBox="1"/>
          <p:nvPr/>
        </p:nvSpPr>
        <p:spPr>
          <a:xfrm>
            <a:off x="594360" y="306324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22" name="Text 19"/>
          <p:cNvSpPr txBox="1"/>
          <p:nvPr/>
        </p:nvSpPr>
        <p:spPr>
          <a:xfrm>
            <a:off x="1097280" y="3035808"/>
            <a:ext cx="1920240" cy="457200"/>
          </a:xfrm>
          <a:prstGeom prst="rect">
            <a:avLst/>
          </a:prstGeom>
          <a:noFill/>
          <a:ln/>
        </p:spPr>
        <p:txBody>
          <a:bodyPr wrap="square" lIns="0" tIns="0" rIns="0" bIns="0" rtlCol="0" anchor="ctr"/>
          <a:lstStyle/>
          <a:p>
            <a:pPr marL="0" indent="0">
              <a:buNone/>
            </a:pPr>
            <a:r>
              <a:rPr lang="en-US" sz="1300" b="1" dirty="0">
                <a:solidFill>
                  <a:srgbClr val="0B2545"/>
                </a:solidFill>
              </a:rPr>
              <a:t>RTL Analysis</a:t>
            </a:r>
            <a:endParaRPr lang="en-US" sz="1300" dirty="0"/>
          </a:p>
        </p:txBody>
      </p:sp>
      <p:sp>
        <p:nvSpPr>
          <p:cNvPr id="23" name="Text 20"/>
          <p:cNvSpPr txBox="1"/>
          <p:nvPr/>
        </p:nvSpPr>
        <p:spPr>
          <a:xfrm>
            <a:off x="594360" y="3657600"/>
            <a:ext cx="2377440" cy="777240"/>
          </a:xfrm>
          <a:prstGeom prst="rect">
            <a:avLst/>
          </a:prstGeom>
          <a:noFill/>
          <a:ln/>
        </p:spPr>
        <p:txBody>
          <a:bodyPr wrap="square" lIns="0" tIns="0" rIns="0" bIns="0" rtlCol="0" anchor="t"/>
          <a:lstStyle/>
          <a:p>
            <a:pPr marL="0" indent="0">
              <a:buNone/>
            </a:pPr>
            <a:r>
              <a:rPr lang="en-US" sz="1100" dirty="0">
                <a:solidFill>
                  <a:srgbClr val="1B1F2A"/>
                </a:solidFill>
              </a:rPr>
              <a:t>Elaborated schematic: bus connectivity, no inferred latches</a:t>
            </a:r>
            <a:endParaRPr lang="en-US" sz="1100" dirty="0"/>
          </a:p>
        </p:txBody>
      </p:sp>
      <p:sp>
        <p:nvSpPr>
          <p:cNvPr id="24" name="Shape 21"/>
          <p:cNvSpPr/>
          <p:nvPr/>
        </p:nvSpPr>
        <p:spPr>
          <a:xfrm>
            <a:off x="3246120" y="2926080"/>
            <a:ext cx="2651760" cy="1600200"/>
          </a:xfrm>
          <a:prstGeom prst="rect">
            <a:avLst/>
          </a:prstGeom>
          <a:solidFill>
            <a:srgbClr val="FFFFFF"/>
          </a:solidFill>
          <a:ln w="9525">
            <a:solidFill>
              <a:srgbClr val="DDE3EA"/>
            </a:solidFill>
            <a:prstDash val="solid"/>
          </a:ln>
        </p:spPr>
      </p:sp>
      <p:sp>
        <p:nvSpPr>
          <p:cNvPr id="25" name="Shape 22"/>
          <p:cNvSpPr/>
          <p:nvPr/>
        </p:nvSpPr>
        <p:spPr>
          <a:xfrm>
            <a:off x="3383280" y="3063240"/>
            <a:ext cx="411480" cy="411480"/>
          </a:xfrm>
          <a:prstGeom prst="ellipse">
            <a:avLst/>
          </a:prstGeom>
          <a:solidFill>
            <a:srgbClr val="F28C28"/>
          </a:solidFill>
          <a:ln w="12700">
            <a:solidFill>
              <a:srgbClr val="FFFFFF"/>
            </a:solidFill>
            <a:prstDash val="solid"/>
          </a:ln>
        </p:spPr>
      </p:sp>
      <p:sp>
        <p:nvSpPr>
          <p:cNvPr id="26" name="Text 23"/>
          <p:cNvSpPr txBox="1"/>
          <p:nvPr/>
        </p:nvSpPr>
        <p:spPr>
          <a:xfrm>
            <a:off x="3383280" y="306324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27" name="Text 24"/>
          <p:cNvSpPr txBox="1"/>
          <p:nvPr/>
        </p:nvSpPr>
        <p:spPr>
          <a:xfrm>
            <a:off x="3886200" y="3035808"/>
            <a:ext cx="1920240" cy="457200"/>
          </a:xfrm>
          <a:prstGeom prst="rect">
            <a:avLst/>
          </a:prstGeom>
          <a:noFill/>
          <a:ln/>
        </p:spPr>
        <p:txBody>
          <a:bodyPr wrap="square" lIns="0" tIns="0" rIns="0" bIns="0" rtlCol="0" anchor="ctr"/>
          <a:lstStyle/>
          <a:p>
            <a:pPr marL="0" indent="0">
              <a:buNone/>
            </a:pPr>
            <a:r>
              <a:rPr lang="en-US" sz="1300" b="1" dirty="0">
                <a:solidFill>
                  <a:srgbClr val="0B2545"/>
                </a:solidFill>
              </a:rPr>
              <a:t>Logic Synthesis</a:t>
            </a:r>
            <a:endParaRPr lang="en-US" sz="1300" dirty="0"/>
          </a:p>
        </p:txBody>
      </p:sp>
      <p:sp>
        <p:nvSpPr>
          <p:cNvPr id="28" name="Text 25"/>
          <p:cNvSpPr txBox="1"/>
          <p:nvPr/>
        </p:nvSpPr>
        <p:spPr>
          <a:xfrm>
            <a:off x="3383280" y="3657600"/>
            <a:ext cx="2377440" cy="777240"/>
          </a:xfrm>
          <a:prstGeom prst="rect">
            <a:avLst/>
          </a:prstGeom>
          <a:noFill/>
          <a:ln/>
        </p:spPr>
        <p:txBody>
          <a:bodyPr wrap="square" lIns="0" tIns="0" rIns="0" bIns="0" rtlCol="0" anchor="t"/>
          <a:lstStyle/>
          <a:p>
            <a:pPr marL="0" indent="0">
              <a:buNone/>
            </a:pPr>
            <a:r>
              <a:rPr lang="en-US" sz="1100" dirty="0">
                <a:solidFill>
                  <a:srgbClr val="1B1F2A"/>
                </a:solidFill>
              </a:rPr>
              <a:t>RTL → LUTs and D flip-flops</a:t>
            </a:r>
            <a:endParaRPr lang="en-US" sz="1100" dirty="0"/>
          </a:p>
        </p:txBody>
      </p:sp>
      <p:sp>
        <p:nvSpPr>
          <p:cNvPr id="29" name="Shape 26"/>
          <p:cNvSpPr/>
          <p:nvPr/>
        </p:nvSpPr>
        <p:spPr>
          <a:xfrm>
            <a:off x="6035040" y="2926080"/>
            <a:ext cx="2651760" cy="1600200"/>
          </a:xfrm>
          <a:prstGeom prst="rect">
            <a:avLst/>
          </a:prstGeom>
          <a:solidFill>
            <a:srgbClr val="FFFFFF"/>
          </a:solidFill>
          <a:ln w="9525">
            <a:solidFill>
              <a:srgbClr val="DDE3EA"/>
            </a:solidFill>
            <a:prstDash val="solid"/>
          </a:ln>
        </p:spPr>
      </p:sp>
      <p:sp>
        <p:nvSpPr>
          <p:cNvPr id="30" name="Shape 27"/>
          <p:cNvSpPr/>
          <p:nvPr/>
        </p:nvSpPr>
        <p:spPr>
          <a:xfrm>
            <a:off x="6172200" y="3063240"/>
            <a:ext cx="411480" cy="411480"/>
          </a:xfrm>
          <a:prstGeom prst="ellipse">
            <a:avLst/>
          </a:prstGeom>
          <a:solidFill>
            <a:srgbClr val="F28C28"/>
          </a:solidFill>
          <a:ln w="12700">
            <a:solidFill>
              <a:srgbClr val="FFFFFF"/>
            </a:solidFill>
            <a:prstDash val="solid"/>
          </a:ln>
        </p:spPr>
      </p:sp>
      <p:sp>
        <p:nvSpPr>
          <p:cNvPr id="31" name="Text 28"/>
          <p:cNvSpPr txBox="1"/>
          <p:nvPr/>
        </p:nvSpPr>
        <p:spPr>
          <a:xfrm>
            <a:off x="6172200" y="306324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32" name="Text 29"/>
          <p:cNvSpPr txBox="1"/>
          <p:nvPr/>
        </p:nvSpPr>
        <p:spPr>
          <a:xfrm>
            <a:off x="6675120" y="3035808"/>
            <a:ext cx="1920240" cy="457200"/>
          </a:xfrm>
          <a:prstGeom prst="rect">
            <a:avLst/>
          </a:prstGeom>
          <a:noFill/>
          <a:ln/>
        </p:spPr>
        <p:txBody>
          <a:bodyPr wrap="square" lIns="0" tIns="0" rIns="0" bIns="0" rtlCol="0" anchor="ctr"/>
          <a:lstStyle/>
          <a:p>
            <a:pPr marL="0" indent="0">
              <a:buNone/>
            </a:pPr>
            <a:r>
              <a:rPr lang="en-US" sz="1300" b="1" dirty="0">
                <a:solidFill>
                  <a:srgbClr val="0B2545"/>
                </a:solidFill>
              </a:rPr>
              <a:t>Utilization &amp; Timing</a:t>
            </a:r>
            <a:endParaRPr lang="en-US" sz="1300" dirty="0"/>
          </a:p>
        </p:txBody>
      </p:sp>
      <p:sp>
        <p:nvSpPr>
          <p:cNvPr id="33" name="Text 30"/>
          <p:cNvSpPr txBox="1"/>
          <p:nvPr/>
        </p:nvSpPr>
        <p:spPr>
          <a:xfrm>
            <a:off x="6172200" y="3657600"/>
            <a:ext cx="2377440" cy="777240"/>
          </a:xfrm>
          <a:prstGeom prst="rect">
            <a:avLst/>
          </a:prstGeom>
          <a:noFill/>
          <a:ln/>
        </p:spPr>
        <p:txBody>
          <a:bodyPr wrap="square" lIns="0" tIns="0" rIns="0" bIns="0" rtlCol="0" anchor="t"/>
          <a:lstStyle/>
          <a:p>
            <a:pPr marL="0" indent="0">
              <a:buNone/>
            </a:pPr>
            <a:r>
              <a:rPr lang="en-US" sz="1100" dirty="0">
                <a:solidFill>
                  <a:srgbClr val="1B1F2A"/>
                </a:solidFill>
              </a:rPr>
              <a:t>LUT, FF, I/O consumption and timing audit</a:t>
            </a:r>
            <a:endParaRPr lang="en-US" sz="1100" dirty="0"/>
          </a:p>
        </p:txBody>
      </p:sp>
      <p:sp>
        <p:nvSpPr>
          <p:cNvPr id="3"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D99AE"/>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640080" y="457200"/>
            <a:ext cx="7863840" cy="640080"/>
          </a:xfrm>
          <a:prstGeom prst="rect">
            <a:avLst/>
          </a:prstGeom>
          <a:noFill/>
          <a:ln/>
        </p:spPr>
        <p:txBody>
          <a:bodyPr wrap="square" lIns="0" tIns="0" rIns="0" bIns="0" rtlCol="0" anchor="ctr"/>
          <a:lstStyle/>
          <a:p>
            <a:pPr marL="0" indent="0">
              <a:buNone/>
            </a:pPr>
            <a:r>
              <a:rPr lang="en-US" sz="3200" b="1" dirty="0">
                <a:solidFill>
                  <a:srgbClr val="FFFFFF"/>
                </a:solidFill>
              </a:rPr>
              <a:t>Conclusion</a:t>
            </a:r>
            <a:endParaRPr lang="en-US" sz="3200" dirty="0"/>
          </a:p>
        </p:txBody>
      </p:sp>
      <p:sp>
        <p:nvSpPr>
          <p:cNvPr id="3" name="Text 1"/>
          <p:cNvSpPr txBox="1"/>
          <p:nvPr/>
        </p:nvSpPr>
        <p:spPr>
          <a:xfrm>
            <a:off x="640080" y="1371600"/>
            <a:ext cx="7863840" cy="21945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FFFFFF"/>
                </a:solidFill>
              </a:rPr>
              <a:t>Designed a 4-bit RISC CPU with a 3-stage IF–ID–EX pipeline in Verilog HDL</a:t>
            </a:r>
            <a:endParaRPr lang="en-US" sz="1700" dirty="0"/>
          </a:p>
          <a:p>
            <a:pPr marL="342900" indent="-342900">
              <a:spcAft>
                <a:spcPts val="1000"/>
              </a:spcAft>
              <a:buSzPct val="100000"/>
              <a:buChar char="•"/>
            </a:pPr>
            <a:r>
              <a:rPr lang="en-US" sz="1700" dirty="0">
                <a:solidFill>
                  <a:srgbClr val="FFFFFF"/>
                </a:solidFill>
              </a:rPr>
              <a:t>12-bit fixed ISA, Harvard memory, CPI = 1 once the pipeline is primed</a:t>
            </a:r>
            <a:endParaRPr lang="en-US" sz="1700" dirty="0"/>
          </a:p>
          <a:p>
            <a:pPr marL="342900" indent="-342900">
              <a:spcAft>
                <a:spcPts val="1000"/>
              </a:spcAft>
              <a:buSzPct val="100000"/>
              <a:buChar char="•"/>
            </a:pPr>
            <a:r>
              <a:rPr lang="en-US" sz="1700" dirty="0">
                <a:solidFill>
                  <a:srgbClr val="FFFFFF"/>
                </a:solidFill>
              </a:rPr>
              <a:t>2-bubble flush mechanism resolves JMP / JZ control hazards</a:t>
            </a:r>
            <a:endParaRPr lang="en-US" sz="1700" dirty="0"/>
          </a:p>
          <a:p>
            <a:pPr marL="342900" indent="-342900">
              <a:spcAft>
                <a:spcPts val="1000"/>
              </a:spcAft>
              <a:buSzPct val="100000"/>
              <a:buChar char="•"/>
            </a:pPr>
            <a:r>
              <a:rPr lang="en-US" sz="1700" dirty="0">
                <a:solidFill>
                  <a:srgbClr val="FFFFFF"/>
                </a:solidFill>
              </a:rPr>
              <a:t>100% pass rate: 88 / 88 checks (44 module-level + 44 system-level)</a:t>
            </a:r>
            <a:endParaRPr lang="en-US" sz="1700" dirty="0"/>
          </a:p>
          <a:p>
            <a:pPr marL="342900" indent="-342900">
              <a:spcAft>
                <a:spcPts val="1000"/>
              </a:spcAft>
              <a:buSzPct val="100000"/>
              <a:buChar char="•"/>
            </a:pPr>
            <a:r>
              <a:rPr lang="en-US" sz="1700" dirty="0">
                <a:solidFill>
                  <a:srgbClr val="FFFFFF"/>
                </a:solidFill>
              </a:rPr>
              <a:t>Ultra-compact footprint on Artix-7: 41 LUTs, 50 FFs, 28 I/O</a:t>
            </a:r>
            <a:endParaRPr lang="en-US" sz="1700" dirty="0"/>
          </a:p>
        </p:txBody>
      </p:sp>
      <p:sp>
        <p:nvSpPr>
          <p:cNvPr id="4" name="Text 2"/>
          <p:cNvSpPr txBox="1"/>
          <p:nvPr/>
        </p:nvSpPr>
        <p:spPr>
          <a:xfrm>
            <a:off x="640080" y="3931920"/>
            <a:ext cx="7863840" cy="548640"/>
          </a:xfrm>
          <a:prstGeom prst="rect">
            <a:avLst/>
          </a:prstGeom>
          <a:noFill/>
          <a:ln/>
        </p:spPr>
        <p:txBody>
          <a:bodyPr wrap="square" lIns="0" tIns="0" rIns="0" bIns="0" rtlCol="0" anchor="ctr"/>
          <a:lstStyle/>
          <a:p>
            <a:pPr marL="0" indent="0">
              <a:buNone/>
            </a:pPr>
            <a:r>
              <a:rPr lang="en-US" sz="2600" b="1" dirty="0">
                <a:solidFill>
                  <a:srgbClr val="13A89E"/>
                </a:solidFill>
              </a:rPr>
              <a:t>Thank you!  Questions?</a:t>
            </a:r>
            <a:endParaRPr lang="en-US" sz="2600" dirty="0"/>
          </a:p>
        </p:txBody>
      </p:sp>
    </p:spTree>
  </p:cSld>
  <p:clrMapOvr>
    <a:masterClrMapping/>
  </p:clrMapOvr>
</p:sld>
</file>

<file path=ppt/theme/theme1.xml><?xml version="1.0" encoding="utf-8"?>
<a:theme xmlns:a="http://schemas.openxmlformats.org/drawingml/2006/main" name="CPU Report">
  <a:themeElements>
    <a:clrScheme name="CPU Report">
      <a:dk1>
        <a:srgbClr val="1B1F2A"/>
      </a:dk1>
      <a:lt1>
        <a:srgbClr val="FFFFFF"/>
      </a:lt1>
      <a:dk2>
        <a:srgbClr val="0B2545"/>
      </a:dk2>
      <a:lt2>
        <a:srgbClr val="F4F7FA"/>
      </a:lt2>
      <a:accent1>
        <a:srgbClr val="13A89E"/>
      </a:accent1>
      <a:accent2>
        <a:srgbClr val="F28C28"/>
      </a:accent2>
      <a:accent3>
        <a:srgbClr val="3E7CB1"/>
      </a:accent3>
      <a:accent4>
        <a:srgbClr val="8D99AE"/>
      </a:accent4>
      <a:accent5>
        <a:srgbClr val="6A4C93"/>
      </a:accent5>
      <a:accent6>
        <a:srgbClr val="2E9E5B"/>
      </a:accent6>
      <a:hlink>
        <a:srgbClr val="3E7CB1"/>
      </a:hlink>
      <a:folHlink>
        <a:srgbClr val="6A4C93"/>
      </a:folHlink>
    </a:clrScheme>
    <a:fontScheme name="CPU Repor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2741</Words>
  <Application>Microsoft Office PowerPoint</Application>
  <PresentationFormat>On-screen Show (16:9)</PresentationFormat>
  <Paragraphs>434</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CPU Report</vt:lpstr>
      <vt:lpstr>PowerPoint Presentation</vt:lpstr>
      <vt:lpstr>Project Overview</vt:lpstr>
      <vt:lpstr>Part A – Architecture &amp; Pipeline</vt:lpstr>
      <vt:lpstr>Part C – Instruction Set Architecture</vt:lpstr>
      <vt:lpstr>Control Unit Decoder Truth Table</vt:lpstr>
      <vt:lpstr>Step-by-Step Execution Trace</vt:lpstr>
      <vt:lpstr>Part B – Verification Methodology</vt:lpstr>
      <vt:lpstr>Simulation Results – 88 / 88 PASSED</vt:lpstr>
      <vt:lpstr>F1 – Sources Window: Design Hierarchy</vt:lpstr>
      <vt:lpstr>F2 – Behavioral Simulation Waveforms</vt:lpstr>
      <vt:lpstr>F3 – Tcl Console: Automated PASS Results</vt:lpstr>
      <vt:lpstr>F4 – Elaborated Schematic (RTL Analysis)</vt:lpstr>
      <vt:lpstr>F5 – Synthesized Schematic</vt:lpstr>
      <vt:lpstr>F6 – Utilization Report</vt:lpstr>
      <vt:lpstr>Part E – Design Flow in Vivado 2026.1</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Quân Bảo</cp:lastModifiedBy>
  <cp:revision>2</cp:revision>
  <dcterms:created xsi:type="dcterms:W3CDTF">2026-10-08T13:08:30Z</dcterms:created>
  <dcterms:modified xsi:type="dcterms:W3CDTF">2026-10-08T13:23:30Z</dcterms:modified>
</cp:coreProperties>
</file>